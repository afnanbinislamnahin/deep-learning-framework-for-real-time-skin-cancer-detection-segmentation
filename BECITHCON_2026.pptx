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8" r:id="rId12"/>
    <p:sldId id="267" r:id="rId13"/>
    <p:sldId id="269" r:id="rId14"/>
    <p:sldId id="271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4440" y="2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undo custSel addSld delSld modSld sldOrd">
      <pc:chgData name="AFNAN BIN ISLAM NAHIN" userId="288682b4-77b6-4f3e-a0c4-4af26aad528b" providerId="ADAL" clId="{79988929-352C-57E9-A43B-A5F2C3021FFB}" dt="2026-09-03T19:47:12.357" v="99" actId="1076"/>
      <pc:docMkLst>
        <pc:docMk/>
      </pc:docMkLst>
      <pc:sldChg chg="addSp delSp modSp mod">
        <pc:chgData name="AFNAN BIN ISLAM NAHIN" userId="288682b4-77b6-4f3e-a0c4-4af26aad528b" providerId="ADAL" clId="{79988929-352C-57E9-A43B-A5F2C3021FFB}" dt="2026-09-03T15:12:08.183" v="37" actId="20577"/>
        <pc:sldMkLst>
          <pc:docMk/>
          <pc:sldMk cId="0" sldId="257"/>
        </pc:sldMkLst>
        <pc:spChg chg="del mod">
          <ac:chgData name="AFNAN BIN ISLAM NAHIN" userId="288682b4-77b6-4f3e-a0c4-4af26aad528b" providerId="ADAL" clId="{79988929-352C-57E9-A43B-A5F2C3021FFB}" dt="2026-09-03T13:52:35.358" v="14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52:35.358" v="14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52:35.358" v="14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52:35.358" v="1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52:35.358" v="14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52:35.358" v="14" actId="478"/>
          <ac:spMkLst>
            <pc:docMk/>
            <pc:sldMk cId="0" sldId="257"/>
            <ac:spMk id="8" creationId="{00000000-0000-0000-0000-000000000000}"/>
          </ac:spMkLst>
        </pc:spChg>
        <pc:spChg chg="add mod">
          <ac:chgData name="AFNAN BIN ISLAM NAHIN" userId="288682b4-77b6-4f3e-a0c4-4af26aad528b" providerId="ADAL" clId="{79988929-352C-57E9-A43B-A5F2C3021FFB}" dt="2026-09-03T13:52:47.669" v="15"/>
          <ac:spMkLst>
            <pc:docMk/>
            <pc:sldMk cId="0" sldId="257"/>
            <ac:spMk id="16" creationId="{10FB372C-19BE-8424-0D19-17ACB302503C}"/>
          </ac:spMkLst>
        </pc:spChg>
        <pc:spChg chg="add mod">
          <ac:chgData name="AFNAN BIN ISLAM NAHIN" userId="288682b4-77b6-4f3e-a0c4-4af26aad528b" providerId="ADAL" clId="{79988929-352C-57E9-A43B-A5F2C3021FFB}" dt="2026-09-03T13:52:47.669" v="15"/>
          <ac:spMkLst>
            <pc:docMk/>
            <pc:sldMk cId="0" sldId="257"/>
            <ac:spMk id="17" creationId="{F3C9AFED-C79C-E3EB-ECA1-1F997D3A1106}"/>
          </ac:spMkLst>
        </pc:spChg>
        <pc:spChg chg="add mod">
          <ac:chgData name="AFNAN BIN ISLAM NAHIN" userId="288682b4-77b6-4f3e-a0c4-4af26aad528b" providerId="ADAL" clId="{79988929-352C-57E9-A43B-A5F2C3021FFB}" dt="2026-09-03T13:52:47.669" v="15"/>
          <ac:spMkLst>
            <pc:docMk/>
            <pc:sldMk cId="0" sldId="257"/>
            <ac:spMk id="24" creationId="{C2CA0ABA-BB77-0A78-DA55-72BD8548E157}"/>
          </ac:spMkLst>
        </pc:spChg>
        <pc:spChg chg="add mod">
          <ac:chgData name="AFNAN BIN ISLAM NAHIN" userId="288682b4-77b6-4f3e-a0c4-4af26aad528b" providerId="ADAL" clId="{79988929-352C-57E9-A43B-A5F2C3021FFB}" dt="2026-09-03T13:52:47.669" v="15"/>
          <ac:spMkLst>
            <pc:docMk/>
            <pc:sldMk cId="0" sldId="257"/>
            <ac:spMk id="29" creationId="{5D48F9C6-2D04-F778-3159-42942AAC1DFA}"/>
          </ac:spMkLst>
        </pc:spChg>
        <pc:spChg chg="add del mod">
          <ac:chgData name="AFNAN BIN ISLAM NAHIN" userId="288682b4-77b6-4f3e-a0c4-4af26aad528b" providerId="ADAL" clId="{79988929-352C-57E9-A43B-A5F2C3021FFB}" dt="2026-09-03T15:11:15.797" v="22" actId="478"/>
          <ac:spMkLst>
            <pc:docMk/>
            <pc:sldMk cId="0" sldId="257"/>
            <ac:spMk id="35" creationId="{5DF01C84-E2DD-DB0E-A333-B4A68C16893C}"/>
          </ac:spMkLst>
        </pc:spChg>
        <pc:spChg chg="del">
          <ac:chgData name="AFNAN BIN ISLAM NAHIN" userId="288682b4-77b6-4f3e-a0c4-4af26aad528b" providerId="ADAL" clId="{79988929-352C-57E9-A43B-A5F2C3021FFB}" dt="2026-09-03T15:11:25.083" v="24" actId="478"/>
          <ac:spMkLst>
            <pc:docMk/>
            <pc:sldMk cId="0" sldId="257"/>
            <ac:spMk id="36" creationId="{3333C605-E670-28FC-4941-6774A2D0D696}"/>
          </ac:spMkLst>
        </pc:spChg>
        <pc:spChg chg="del">
          <ac:chgData name="AFNAN BIN ISLAM NAHIN" userId="288682b4-77b6-4f3e-a0c4-4af26aad528b" providerId="ADAL" clId="{79988929-352C-57E9-A43B-A5F2C3021FFB}" dt="2026-09-03T15:11:23.258" v="23" actId="478"/>
          <ac:spMkLst>
            <pc:docMk/>
            <pc:sldMk cId="0" sldId="257"/>
            <ac:spMk id="37" creationId="{90204AF9-708A-18DE-DF3F-27FD4220A59C}"/>
          </ac:spMkLst>
        </pc:spChg>
        <pc:spChg chg="mod">
          <ac:chgData name="AFNAN BIN ISLAM NAHIN" userId="288682b4-77b6-4f3e-a0c4-4af26aad528b" providerId="ADAL" clId="{79988929-352C-57E9-A43B-A5F2C3021FFB}" dt="2026-09-03T15:11:44.908" v="27" actId="1076"/>
          <ac:spMkLst>
            <pc:docMk/>
            <pc:sldMk cId="0" sldId="257"/>
            <ac:spMk id="38" creationId="{F17BD327-266F-C044-6154-555AE7A83043}"/>
          </ac:spMkLst>
        </pc:spChg>
        <pc:spChg chg="mod">
          <ac:chgData name="AFNAN BIN ISLAM NAHIN" userId="288682b4-77b6-4f3e-a0c4-4af26aad528b" providerId="ADAL" clId="{79988929-352C-57E9-A43B-A5F2C3021FFB}" dt="2026-09-03T15:11:51.491" v="31" actId="20577"/>
          <ac:spMkLst>
            <pc:docMk/>
            <pc:sldMk cId="0" sldId="257"/>
            <ac:spMk id="39" creationId="{301E8CE2-FBF2-FAC1-293B-2055F601023D}"/>
          </ac:spMkLst>
        </pc:spChg>
        <pc:spChg chg="mod">
          <ac:chgData name="AFNAN BIN ISLAM NAHIN" userId="288682b4-77b6-4f3e-a0c4-4af26aad528b" providerId="ADAL" clId="{79988929-352C-57E9-A43B-A5F2C3021FFB}" dt="2026-09-03T15:11:44.908" v="27" actId="1076"/>
          <ac:spMkLst>
            <pc:docMk/>
            <pc:sldMk cId="0" sldId="257"/>
            <ac:spMk id="41" creationId="{DA080739-DE04-82EB-0C3D-E7848A029314}"/>
          </ac:spMkLst>
        </pc:spChg>
        <pc:spChg chg="add mod">
          <ac:chgData name="AFNAN BIN ISLAM NAHIN" userId="288682b4-77b6-4f3e-a0c4-4af26aad528b" providerId="ADAL" clId="{79988929-352C-57E9-A43B-A5F2C3021FFB}" dt="2026-09-03T15:11:59.155" v="33" actId="20577"/>
          <ac:spMkLst>
            <pc:docMk/>
            <pc:sldMk cId="0" sldId="257"/>
            <ac:spMk id="42" creationId="{95A107BB-88B4-4129-4B8D-E5B779872AFE}"/>
          </ac:spMkLst>
        </pc:spChg>
        <pc:spChg chg="mod">
          <ac:chgData name="AFNAN BIN ISLAM NAHIN" userId="288682b4-77b6-4f3e-a0c4-4af26aad528b" providerId="ADAL" clId="{79988929-352C-57E9-A43B-A5F2C3021FFB}" dt="2026-09-03T15:11:44.908" v="27" actId="1076"/>
          <ac:spMkLst>
            <pc:docMk/>
            <pc:sldMk cId="0" sldId="257"/>
            <ac:spMk id="43" creationId="{8F289899-519D-BCB2-5552-0E28A2F82691}"/>
          </ac:spMkLst>
        </pc:spChg>
        <pc:spChg chg="add mod">
          <ac:chgData name="AFNAN BIN ISLAM NAHIN" userId="288682b4-77b6-4f3e-a0c4-4af26aad528b" providerId="ADAL" clId="{79988929-352C-57E9-A43B-A5F2C3021FFB}" dt="2026-09-03T15:11:44.908" v="27" actId="1076"/>
          <ac:spMkLst>
            <pc:docMk/>
            <pc:sldMk cId="0" sldId="257"/>
            <ac:spMk id="44" creationId="{B4A995CC-3D53-7AED-B03A-45D49551B6BB}"/>
          </ac:spMkLst>
        </pc:spChg>
        <pc:spChg chg="mod">
          <ac:chgData name="AFNAN BIN ISLAM NAHIN" userId="288682b4-77b6-4f3e-a0c4-4af26aad528b" providerId="ADAL" clId="{79988929-352C-57E9-A43B-A5F2C3021FFB}" dt="2026-09-03T15:12:02.744" v="35" actId="20577"/>
          <ac:spMkLst>
            <pc:docMk/>
            <pc:sldMk cId="0" sldId="257"/>
            <ac:spMk id="45" creationId="{D8E26B0F-96AF-81CE-FDE9-C2C1E1C749FE}"/>
          </ac:spMkLst>
        </pc:spChg>
        <pc:spChg chg="mod">
          <ac:chgData name="AFNAN BIN ISLAM NAHIN" userId="288682b4-77b6-4f3e-a0c4-4af26aad528b" providerId="ADAL" clId="{79988929-352C-57E9-A43B-A5F2C3021FFB}" dt="2026-09-03T15:11:44.908" v="27" actId="1076"/>
          <ac:spMkLst>
            <pc:docMk/>
            <pc:sldMk cId="0" sldId="257"/>
            <ac:spMk id="46" creationId="{93CB920B-486C-5D62-BE62-AFC74307E6A4}"/>
          </ac:spMkLst>
        </pc:spChg>
        <pc:spChg chg="add mod">
          <ac:chgData name="AFNAN BIN ISLAM NAHIN" userId="288682b4-77b6-4f3e-a0c4-4af26aad528b" providerId="ADAL" clId="{79988929-352C-57E9-A43B-A5F2C3021FFB}" dt="2026-09-03T15:11:44.908" v="27" actId="1076"/>
          <ac:spMkLst>
            <pc:docMk/>
            <pc:sldMk cId="0" sldId="257"/>
            <ac:spMk id="47" creationId="{A0005EF9-335B-5D92-EDAA-044B1602D4B4}"/>
          </ac:spMkLst>
        </pc:spChg>
        <pc:spChg chg="mod">
          <ac:chgData name="AFNAN BIN ISLAM NAHIN" userId="288682b4-77b6-4f3e-a0c4-4af26aad528b" providerId="ADAL" clId="{79988929-352C-57E9-A43B-A5F2C3021FFB}" dt="2026-09-03T15:12:08.183" v="37" actId="20577"/>
          <ac:spMkLst>
            <pc:docMk/>
            <pc:sldMk cId="0" sldId="257"/>
            <ac:spMk id="48" creationId="{1E59FFD4-FEA6-70BF-CC03-D8444B9E4F66}"/>
          </ac:spMkLst>
        </pc:spChg>
        <pc:spChg chg="add mod">
          <ac:chgData name="AFNAN BIN ISLAM NAHIN" userId="288682b4-77b6-4f3e-a0c4-4af26aad528b" providerId="ADAL" clId="{79988929-352C-57E9-A43B-A5F2C3021FFB}" dt="2026-09-03T13:52:47.669" v="15"/>
          <ac:spMkLst>
            <pc:docMk/>
            <pc:sldMk cId="0" sldId="257"/>
            <ac:spMk id="49" creationId="{740DC807-D43F-A0BB-3791-54C89DFDBBB8}"/>
          </ac:spMkLst>
        </pc:spChg>
        <pc:spChg chg="del">
          <ac:chgData name="AFNAN BIN ISLAM NAHIN" userId="288682b4-77b6-4f3e-a0c4-4af26aad528b" providerId="ADAL" clId="{79988929-352C-57E9-A43B-A5F2C3021FFB}" dt="2026-09-03T13:53:27.006" v="17" actId="478"/>
          <ac:spMkLst>
            <pc:docMk/>
            <pc:sldMk cId="0" sldId="257"/>
            <ac:spMk id="50" creationId="{C4FF7F8C-92BB-4D01-4173-34339FB8450A}"/>
          </ac:spMkLst>
        </pc:spChg>
        <pc:spChg chg="del">
          <ac:chgData name="AFNAN BIN ISLAM NAHIN" userId="288682b4-77b6-4f3e-a0c4-4af26aad528b" providerId="ADAL" clId="{79988929-352C-57E9-A43B-A5F2C3021FFB}" dt="2026-09-03T13:53:34.793" v="20" actId="478"/>
          <ac:spMkLst>
            <pc:docMk/>
            <pc:sldMk cId="0" sldId="257"/>
            <ac:spMk id="51" creationId="{97BC3912-4C34-CA13-479B-ADA47BFA2D7B}"/>
          </ac:spMkLst>
        </pc:spChg>
        <pc:spChg chg="add del mod">
          <ac:chgData name="AFNAN BIN ISLAM NAHIN" userId="288682b4-77b6-4f3e-a0c4-4af26aad528b" providerId="ADAL" clId="{79988929-352C-57E9-A43B-A5F2C3021FFB}" dt="2026-09-03T13:53:32.913" v="19" actId="478"/>
          <ac:spMkLst>
            <pc:docMk/>
            <pc:sldMk cId="0" sldId="257"/>
            <ac:spMk id="52" creationId="{4CE8D58D-A7F2-3DEA-AB47-1DF9BEABDAFF}"/>
          </ac:spMkLst>
        </pc:spChg>
        <pc:spChg chg="add mod">
          <ac:chgData name="AFNAN BIN ISLAM NAHIN" userId="288682b4-77b6-4f3e-a0c4-4af26aad528b" providerId="ADAL" clId="{79988929-352C-57E9-A43B-A5F2C3021FFB}" dt="2026-09-03T13:53:04.272" v="16"/>
          <ac:spMkLst>
            <pc:docMk/>
            <pc:sldMk cId="0" sldId="257"/>
            <ac:spMk id="53" creationId="{9AE94B82-F044-0D66-8A00-5F9021AAB782}"/>
          </ac:spMkLst>
        </pc:spChg>
        <pc:picChg chg="del">
          <ac:chgData name="AFNAN BIN ISLAM NAHIN" userId="288682b4-77b6-4f3e-a0c4-4af26aad528b" providerId="ADAL" clId="{79988929-352C-57E9-A43B-A5F2C3021FFB}" dt="2026-09-03T13:52:35.358" v="14" actId="478"/>
          <ac:picMkLst>
            <pc:docMk/>
            <pc:sldMk cId="0" sldId="257"/>
            <ac:picMk id="10" creationId="{2CFD7F43-5645-6C37-19C0-55ADC65F2F57}"/>
          </ac:picMkLst>
        </pc:picChg>
      </pc:sldChg>
      <pc:sldChg chg="addSp delSp modSp mod">
        <pc:chgData name="AFNAN BIN ISLAM NAHIN" userId="288682b4-77b6-4f3e-a0c4-4af26aad528b" providerId="ADAL" clId="{79988929-352C-57E9-A43B-A5F2C3021FFB}" dt="2026-09-03T17:36:40.112" v="40" actId="20577"/>
        <pc:sldMkLst>
          <pc:docMk/>
          <pc:sldMk cId="0" sldId="259"/>
        </pc:sldMkLst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3:35:19.136" v="4" actId="478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AFNAN BIN ISLAM NAHIN" userId="288682b4-77b6-4f3e-a0c4-4af26aad528b" providerId="ADAL" clId="{79988929-352C-57E9-A43B-A5F2C3021FFB}" dt="2026-09-03T13:35:14.505" v="3"/>
          <ac:spMkLst>
            <pc:docMk/>
            <pc:sldMk cId="0" sldId="259"/>
            <ac:spMk id="22" creationId="{CD7AA90E-6117-D24E-C1C8-9627A3800FC5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23" creationId="{B489AA54-A92C-EF83-FFEC-EC5E7A62BDDC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26" creationId="{97E16BEC-C0B8-68EB-F560-E26FF656B2FB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29" creationId="{5DB181DA-B690-FCEC-E4FF-4FAAA5802745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31" creationId="{A5F9B395-0291-0352-D6AB-101FAE06096F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35" creationId="{C5DA15A3-D971-3ECB-63AD-5495F1EF7662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36" creationId="{B1C8AB72-C316-D130-B887-270331BB603D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37" creationId="{49FD81B2-09D7-2EA9-2728-A1CD11C5F05C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39" creationId="{FF2CDC77-06B8-A4AE-5E45-1119919AB937}"/>
          </ac:spMkLst>
        </pc:spChg>
        <pc:spChg chg="add mod">
          <ac:chgData name="AFNAN BIN ISLAM NAHIN" userId="288682b4-77b6-4f3e-a0c4-4af26aad528b" providerId="ADAL" clId="{79988929-352C-57E9-A43B-A5F2C3021FFB}" dt="2026-09-03T13:35:20.259" v="5"/>
          <ac:spMkLst>
            <pc:docMk/>
            <pc:sldMk cId="0" sldId="259"/>
            <ac:spMk id="40" creationId="{94DCCDA6-CA33-4400-0EAF-658B03745DD8}"/>
          </ac:spMkLst>
        </pc:spChg>
        <pc:spChg chg="add mod">
          <ac:chgData name="AFNAN BIN ISLAM NAHIN" userId="288682b4-77b6-4f3e-a0c4-4af26aad528b" providerId="ADAL" clId="{79988929-352C-57E9-A43B-A5F2C3021FFB}" dt="2026-09-03T17:36:40.112" v="40" actId="20577"/>
          <ac:spMkLst>
            <pc:docMk/>
            <pc:sldMk cId="0" sldId="259"/>
            <ac:spMk id="43" creationId="{B65C1DC4-8AAA-1788-4B2A-9DE4E3E785C9}"/>
          </ac:spMkLst>
        </pc:spChg>
      </pc:sldChg>
      <pc:sldChg chg="modSp mod">
        <pc:chgData name="AFNAN BIN ISLAM NAHIN" userId="288682b4-77b6-4f3e-a0c4-4af26aad528b" providerId="ADAL" clId="{79988929-352C-57E9-A43B-A5F2C3021FFB}" dt="2026-09-03T17:37:58.837" v="41" actId="732"/>
        <pc:sldMkLst>
          <pc:docMk/>
          <pc:sldMk cId="0" sldId="262"/>
        </pc:sldMkLst>
        <pc:picChg chg="mod modCrop">
          <ac:chgData name="AFNAN BIN ISLAM NAHIN" userId="288682b4-77b6-4f3e-a0c4-4af26aad528b" providerId="ADAL" clId="{79988929-352C-57E9-A43B-A5F2C3021FFB}" dt="2026-09-03T17:37:58.837" v="41" actId="732"/>
          <ac:picMkLst>
            <pc:docMk/>
            <pc:sldMk cId="0" sldId="262"/>
            <ac:picMk id="11" creationId="{7CB913E0-FCBD-9E71-A236-1315BA524CC6}"/>
          </ac:picMkLst>
        </pc:picChg>
      </pc:sldChg>
      <pc:sldChg chg="del">
        <pc:chgData name="AFNAN BIN ISLAM NAHIN" userId="288682b4-77b6-4f3e-a0c4-4af26aad528b" providerId="ADAL" clId="{79988929-352C-57E9-A43B-A5F2C3021FFB}" dt="2026-09-03T15:04:48.913" v="21" actId="2696"/>
        <pc:sldMkLst>
          <pc:docMk/>
          <pc:sldMk cId="0" sldId="264"/>
        </pc:sldMkLst>
      </pc:sldChg>
      <pc:sldChg chg="delSp modSp mod ord">
        <pc:chgData name="AFNAN BIN ISLAM NAHIN" userId="288682b4-77b6-4f3e-a0c4-4af26aad528b" providerId="ADAL" clId="{79988929-352C-57E9-A43B-A5F2C3021FFB}" dt="2026-09-03T19:45:30.092" v="88" actId="1076"/>
        <pc:sldMkLst>
          <pc:docMk/>
          <pc:sldMk cId="0" sldId="265"/>
        </pc:sldMkLst>
        <pc:spChg chg="mod">
          <ac:chgData name="AFNAN BIN ISLAM NAHIN" userId="288682b4-77b6-4f3e-a0c4-4af26aad528b" providerId="ADAL" clId="{79988929-352C-57E9-A43B-A5F2C3021FFB}" dt="2026-09-03T19:45:30.092" v="88" actId="1076"/>
          <ac:spMkLst>
            <pc:docMk/>
            <pc:sldMk cId="0" sldId="265"/>
            <ac:spMk id="7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8:54:18.955" v="67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AFNAN BIN ISLAM NAHIN" userId="288682b4-77b6-4f3e-a0c4-4af26aad528b" providerId="ADAL" clId="{79988929-352C-57E9-A43B-A5F2C3021FFB}" dt="2026-09-03T18:54:25.684" v="69" actId="20577"/>
          <ac:spMkLst>
            <pc:docMk/>
            <pc:sldMk cId="0" sldId="265"/>
            <ac:spMk id="9" creationId="{00000000-0000-0000-0000-000000000000}"/>
          </ac:spMkLst>
        </pc:spChg>
        <pc:spChg chg="del">
          <ac:chgData name="AFNAN BIN ISLAM NAHIN" userId="288682b4-77b6-4f3e-a0c4-4af26aad528b" providerId="ADAL" clId="{79988929-352C-57E9-A43B-A5F2C3021FFB}" dt="2026-09-03T18:54:23.372" v="68" actId="47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FNAN BIN ISLAM NAHIN" userId="288682b4-77b6-4f3e-a0c4-4af26aad528b" providerId="ADAL" clId="{79988929-352C-57E9-A43B-A5F2C3021FFB}" dt="2026-09-03T18:54:48.518" v="78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FNAN BIN ISLAM NAHIN" userId="288682b4-77b6-4f3e-a0c4-4af26aad528b" providerId="ADAL" clId="{79988929-352C-57E9-A43B-A5F2C3021FFB}" dt="2026-09-03T18:54:41.956" v="77" actId="113"/>
          <ac:spMkLst>
            <pc:docMk/>
            <pc:sldMk cId="0" sldId="265"/>
            <ac:spMk id="13" creationId="{00000000-0000-0000-0000-000000000000}"/>
          </ac:spMkLst>
        </pc:spChg>
        <pc:graphicFrameChg chg="mod modGraphic">
          <ac:chgData name="AFNAN BIN ISLAM NAHIN" userId="288682b4-77b6-4f3e-a0c4-4af26aad528b" providerId="ADAL" clId="{79988929-352C-57E9-A43B-A5F2C3021FFB}" dt="2026-09-03T18:51:07.031" v="51" actId="2057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AFNAN BIN ISLAM NAHIN" userId="288682b4-77b6-4f3e-a0c4-4af26aad528b" providerId="ADAL" clId="{79988929-352C-57E9-A43B-A5F2C3021FFB}" dt="2026-09-03T18:59:29.276" v="87" actId="20577"/>
        <pc:sldMkLst>
          <pc:docMk/>
          <pc:sldMk cId="0" sldId="267"/>
        </pc:sldMkLst>
        <pc:spChg chg="mod">
          <ac:chgData name="AFNAN BIN ISLAM NAHIN" userId="288682b4-77b6-4f3e-a0c4-4af26aad528b" providerId="ADAL" clId="{79988929-352C-57E9-A43B-A5F2C3021FFB}" dt="2026-09-03T18:59:29.276" v="87" actId="20577"/>
          <ac:spMkLst>
            <pc:docMk/>
            <pc:sldMk cId="0" sldId="267"/>
            <ac:spMk id="48" creationId="{D991CBB2-D7FC-CEBB-3212-669039C320D6}"/>
          </ac:spMkLst>
        </pc:spChg>
      </pc:sldChg>
      <pc:sldChg chg="delSp modSp mod">
        <pc:chgData name="AFNAN BIN ISLAM NAHIN" userId="288682b4-77b6-4f3e-a0c4-4af26aad528b" providerId="ADAL" clId="{79988929-352C-57E9-A43B-A5F2C3021FFB}" dt="2026-09-03T19:47:12.357" v="99" actId="1076"/>
        <pc:sldMkLst>
          <pc:docMk/>
          <pc:sldMk cId="0" sldId="268"/>
        </pc:sldMkLst>
        <pc:spChg chg="mod">
          <ac:chgData name="AFNAN BIN ISLAM NAHIN" userId="288682b4-77b6-4f3e-a0c4-4af26aad528b" providerId="ADAL" clId="{79988929-352C-57E9-A43B-A5F2C3021FFB}" dt="2026-09-03T19:46:43.645" v="91" actId="1076"/>
          <ac:spMkLst>
            <pc:docMk/>
            <pc:sldMk cId="0" sldId="268"/>
            <ac:spMk id="17" creationId="{739076A0-FF5F-E994-5C4B-C41D6D7628FE}"/>
          </ac:spMkLst>
        </pc:spChg>
        <pc:spChg chg="del">
          <ac:chgData name="AFNAN BIN ISLAM NAHIN" userId="288682b4-77b6-4f3e-a0c4-4af26aad528b" providerId="ADAL" clId="{79988929-352C-57E9-A43B-A5F2C3021FFB}" dt="2026-09-03T19:46:35.360" v="89" actId="478"/>
          <ac:spMkLst>
            <pc:docMk/>
            <pc:sldMk cId="0" sldId="268"/>
            <ac:spMk id="18" creationId="{A4B2CC8D-6461-4C20-347F-5D46E6815CEB}"/>
          </ac:spMkLst>
        </pc:spChg>
        <pc:spChg chg="mod">
          <ac:chgData name="AFNAN BIN ISLAM NAHIN" userId="288682b4-77b6-4f3e-a0c4-4af26aad528b" providerId="ADAL" clId="{79988929-352C-57E9-A43B-A5F2C3021FFB}" dt="2026-09-03T19:47:12.357" v="99" actId="1076"/>
          <ac:spMkLst>
            <pc:docMk/>
            <pc:sldMk cId="0" sldId="268"/>
            <ac:spMk id="19" creationId="{92E02568-3050-D44C-B979-67495006A928}"/>
          </ac:spMkLst>
        </pc:spChg>
        <pc:picChg chg="mod">
          <ac:chgData name="AFNAN BIN ISLAM NAHIN" userId="288682b4-77b6-4f3e-a0c4-4af26aad528b" providerId="ADAL" clId="{79988929-352C-57E9-A43B-A5F2C3021FFB}" dt="2026-09-03T18:03:39.390" v="42" actId="1035"/>
          <ac:picMkLst>
            <pc:docMk/>
            <pc:sldMk cId="0" sldId="268"/>
            <ac:picMk id="22" creationId="{9C73A569-AD79-098A-8B46-8475991235BF}"/>
          </ac:picMkLst>
        </pc:picChg>
      </pc:sldChg>
      <pc:sldChg chg="modSp mod">
        <pc:chgData name="AFNAN BIN ISLAM NAHIN" userId="288682b4-77b6-4f3e-a0c4-4af26aad528b" providerId="ADAL" clId="{79988929-352C-57E9-A43B-A5F2C3021FFB}" dt="2026-09-03T18:59:06.334" v="85" actId="27636"/>
        <pc:sldMkLst>
          <pc:docMk/>
          <pc:sldMk cId="0" sldId="269"/>
        </pc:sldMkLst>
        <pc:spChg chg="mod">
          <ac:chgData name="AFNAN BIN ISLAM NAHIN" userId="288682b4-77b6-4f3e-a0c4-4af26aad528b" providerId="ADAL" clId="{79988929-352C-57E9-A43B-A5F2C3021FFB}" dt="2026-09-03T18:59:06.334" v="85" actId="27636"/>
          <ac:spMkLst>
            <pc:docMk/>
            <pc:sldMk cId="0" sldId="269"/>
            <ac:spMk id="14" creationId="{8E943686-765F-1D62-59D1-BA2C7A5E417B}"/>
          </ac:spMkLst>
        </pc:spChg>
      </pc:sldChg>
      <pc:sldChg chg="addSp delSp modSp add mod">
        <pc:chgData name="AFNAN BIN ISLAM NAHIN" userId="288682b4-77b6-4f3e-a0c4-4af26aad528b" providerId="ADAL" clId="{79988929-352C-57E9-A43B-A5F2C3021FFB}" dt="2026-09-03T13:45:02.282" v="10"/>
        <pc:sldMkLst>
          <pc:docMk/>
          <pc:sldMk cId="1057972327" sldId="271"/>
        </pc:sldMkLst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3" creationId="{89EE4C61-72A5-533D-6163-D534AD080301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5" creationId="{703D5CD8-21FB-3E7D-33E3-4D2816DAFA44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6" creationId="{35668984-32C1-015A-AEB2-6E7F5D9020F0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9" creationId="{E8B6A43D-7569-BA0A-9F05-7B077AE38FB7}"/>
          </ac:spMkLst>
        </pc:spChg>
        <pc:spChg chg="del mod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0" creationId="{B7033E46-3D47-9E66-7E1E-D3BFC651AD60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1" creationId="{A88E8E34-9D80-64E4-C58A-55FC4F156571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2" creationId="{9193D358-E198-6D37-5C24-F08C2B0E63AE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3" creationId="{39790BB3-F05E-408E-94ED-0B811F592F41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4" creationId="{C4F0D6F1-5FE1-CE6F-76B3-FAB9897F24E7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5" creationId="{536F42AF-AB67-9605-2684-C854BF10A5E0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6" creationId="{617F9D34-E166-C565-033D-31647BD5F88A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7" creationId="{847536FE-21B3-6D02-E497-DE3FCC738820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8" creationId="{1FE293B4-F83C-0CC9-C925-B1C49D72AEE7}"/>
          </ac:spMkLst>
        </pc:spChg>
        <pc:spChg chg="del">
          <ac:chgData name="AFNAN BIN ISLAM NAHIN" userId="288682b4-77b6-4f3e-a0c4-4af26aad528b" providerId="ADAL" clId="{79988929-352C-57E9-A43B-A5F2C3021FFB}" dt="2026-09-03T13:44:49.827" v="9" actId="478"/>
          <ac:spMkLst>
            <pc:docMk/>
            <pc:sldMk cId="1057972327" sldId="271"/>
            <ac:spMk id="19" creationId="{6EB4631B-5451-3D20-08D8-EE771280D8B7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20" creationId="{C3C56B42-BC1F-90AC-2037-D391B6320852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24" creationId="{D8835FFE-2849-82E2-CF8D-6F8AC93CB71D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26" creationId="{82DB0D5E-043C-F785-BE83-24145F46948E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29" creationId="{891E1508-CC98-6FB8-9222-A87CF2805A31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32" creationId="{D9601A1E-E7C3-198D-D4AF-8AE304BFCEEA}"/>
          </ac:spMkLst>
        </pc:spChg>
        <pc:spChg chg="add mod">
          <ac:chgData name="AFNAN BIN ISLAM NAHIN" userId="288682b4-77b6-4f3e-a0c4-4af26aad528b" providerId="ADAL" clId="{79988929-352C-57E9-A43B-A5F2C3021FFB}" dt="2026-09-03T13:45:02.282" v="10"/>
          <ac:spMkLst>
            <pc:docMk/>
            <pc:sldMk cId="1057972327" sldId="271"/>
            <ac:spMk id="35" creationId="{37115453-393F-A2A4-F097-EC9F6E77332D}"/>
          </ac:spMkLst>
        </pc:spChg>
      </pc:sldChg>
      <pc:sldChg chg="add">
        <pc:chgData name="AFNAN BIN ISLAM NAHIN" userId="288682b4-77b6-4f3e-a0c4-4af26aad528b" providerId="ADAL" clId="{79988929-352C-57E9-A43B-A5F2C3021FFB}" dt="2026-09-03T13:52:19.071" v="11"/>
        <pc:sldMkLst>
          <pc:docMk/>
          <pc:sldMk cId="1406318308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8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8601B-8F87-8C16-9855-6F3C144C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BD573-A19E-52A7-F17D-572C4D89D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C712D-D449-06CE-9EB9-B47888B9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9E079-A43C-56DA-995F-91336D32D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33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7A5F-AD8F-14C1-54DD-316C4564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3C4D2-60B7-F945-BDED-874B6A1DB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9F8A4-6C38-FF00-6D5F-F2D7EA7B4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052A-EDD8-22F8-359F-B5229FD15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8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547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BECITHCON 2026  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EFFCFB"/>
          </a:solidFill>
          <a:ln w="12700">
            <a:solidFill>
              <a:srgbClr val="EFFC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869680" y="548640"/>
            <a:ext cx="2743200" cy="2743200"/>
          </a:xfrm>
          <a:prstGeom prst="arc">
            <a:avLst/>
          </a:prstGeom>
          <a:solidFill>
            <a:srgbClr val="EFFCFB">
              <a:alpha val="0"/>
            </a:srgbClr>
          </a:solidFill>
          <a:ln w="152400">
            <a:solidFill>
              <a:srgbClr val="99F6E4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300000">
            <a:off x="9372600" y="1051560"/>
            <a:ext cx="1920240" cy="1920240"/>
          </a:xfrm>
          <a:prstGeom prst="arc">
            <a:avLst/>
          </a:prstGeom>
          <a:solidFill>
            <a:srgbClr val="EFFCFB">
              <a:alpha val="0"/>
            </a:srgbClr>
          </a:solidFill>
          <a:ln w="88900">
            <a:solidFill>
              <a:srgbClr val="67E8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36" y="822960"/>
            <a:ext cx="918151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Real-Time Multi-Task Skin Lesion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Classification </a:t>
            </a:r>
            <a:br>
              <a:rPr lang="en-US" sz="3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and Segmentation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Using Swin Transformer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3351" y="30466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Afnan Bin Islam Nahin  •  Aman Ullah  •  Shakila Rahman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3351" y="350343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American International University–Bangladesh (AIUB), Dhaka, Bangladesh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8478" y="5618647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0F766E"/>
                </a:solidFill>
              </a:rPr>
              <a:t>2026 IEEE International Conference on Biomedical Engineering, Computer and Information Technology for Health (BECITHCON)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DC0CFA96-E174-59E8-07D2-8C7CE7E97C0F}"/>
              </a:ext>
            </a:extLst>
          </p:cNvPr>
          <p:cNvSpPr/>
          <p:nvPr/>
        </p:nvSpPr>
        <p:spPr>
          <a:xfrm>
            <a:off x="3301813" y="4358286"/>
            <a:ext cx="5029200" cy="74980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43384FE-C319-50E5-E62C-DFFE39C28ABA}"/>
              </a:ext>
            </a:extLst>
          </p:cNvPr>
          <p:cNvSpPr/>
          <p:nvPr/>
        </p:nvSpPr>
        <p:spPr>
          <a:xfrm>
            <a:off x="3266194" y="463260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75B5"/>
                </a:solidFill>
              </a:rPr>
              <a:t>Presented by: Afnan Bin Islam Nahin</a:t>
            </a:r>
            <a:endParaRPr lang="en-US" sz="14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F3A79A7-46F8-24C1-7F1D-14A36F2B572F}"/>
              </a:ext>
            </a:extLst>
          </p:cNvPr>
          <p:cNvSpPr/>
          <p:nvPr/>
        </p:nvSpPr>
        <p:spPr>
          <a:xfrm>
            <a:off x="2198791" y="614545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</a:rPr>
              <a:t>04-05 September 2026  |  IUBAT, Dhaka, Bangladesh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ED2C7-86E6-92EB-B125-B4555F5CAE18}"/>
              </a:ext>
            </a:extLst>
          </p:cNvPr>
          <p:cNvSpPr txBox="1"/>
          <p:nvPr/>
        </p:nvSpPr>
        <p:spPr>
          <a:xfrm>
            <a:off x="521207" y="786384"/>
            <a:ext cx="7132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Presentation roadmap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77D1D32-98DC-663A-AFF8-7D6558082732}"/>
              </a:ext>
            </a:extLst>
          </p:cNvPr>
          <p:cNvSpPr/>
          <p:nvPr/>
        </p:nvSpPr>
        <p:spPr>
          <a:xfrm>
            <a:off x="566928" y="1298448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6A68EC-A34A-C13B-D6D5-69E8F6F3ED1D}"/>
              </a:ext>
            </a:extLst>
          </p:cNvPr>
          <p:cNvSpPr/>
          <p:nvPr/>
        </p:nvSpPr>
        <p:spPr>
          <a:xfrm>
            <a:off x="676656" y="1417319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FD1A84-00F9-A5F1-12F6-9B5E802029DF}"/>
              </a:ext>
            </a:extLst>
          </p:cNvPr>
          <p:cNvSpPr txBox="1"/>
          <p:nvPr/>
        </p:nvSpPr>
        <p:spPr>
          <a:xfrm>
            <a:off x="1234440" y="1344168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Background &amp; Problem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912FD2-6B4C-F7D4-5DD0-8FFB8C22B7D1}"/>
              </a:ext>
            </a:extLst>
          </p:cNvPr>
          <p:cNvSpPr/>
          <p:nvPr/>
        </p:nvSpPr>
        <p:spPr>
          <a:xfrm>
            <a:off x="566928" y="1929384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422CD6F-39C7-5DB1-D432-07209F5E9FCE}"/>
              </a:ext>
            </a:extLst>
          </p:cNvPr>
          <p:cNvSpPr/>
          <p:nvPr/>
        </p:nvSpPr>
        <p:spPr>
          <a:xfrm>
            <a:off x="676656" y="2048255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AB13B-A0C9-7857-E803-EB1CCDF5DC81}"/>
              </a:ext>
            </a:extLst>
          </p:cNvPr>
          <p:cNvSpPr txBox="1"/>
          <p:nvPr/>
        </p:nvSpPr>
        <p:spPr>
          <a:xfrm>
            <a:off x="1234440" y="1975103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Research Objective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0FB372C-19BE-8424-0D19-17ACB302503C}"/>
              </a:ext>
            </a:extLst>
          </p:cNvPr>
          <p:cNvSpPr/>
          <p:nvPr/>
        </p:nvSpPr>
        <p:spPr>
          <a:xfrm>
            <a:off x="566928" y="2560320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C9AFED-C79C-E3EB-ECA1-1F997D3A1106}"/>
              </a:ext>
            </a:extLst>
          </p:cNvPr>
          <p:cNvSpPr/>
          <p:nvPr/>
        </p:nvSpPr>
        <p:spPr>
          <a:xfrm>
            <a:off x="676656" y="2679191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790FE-8B31-3882-A3BC-D54B41E30C99}"/>
              </a:ext>
            </a:extLst>
          </p:cNvPr>
          <p:cNvSpPr txBox="1"/>
          <p:nvPr/>
        </p:nvSpPr>
        <p:spPr>
          <a:xfrm>
            <a:off x="1234440" y="2606039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Literature Review &amp; Research Gap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C943BBB-FD9A-87B1-5846-6020D8B9E018}"/>
              </a:ext>
            </a:extLst>
          </p:cNvPr>
          <p:cNvSpPr/>
          <p:nvPr/>
        </p:nvSpPr>
        <p:spPr>
          <a:xfrm>
            <a:off x="566928" y="3191256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1066BF4-4729-0DE4-46E0-F5584C5715F5}"/>
              </a:ext>
            </a:extLst>
          </p:cNvPr>
          <p:cNvSpPr/>
          <p:nvPr/>
        </p:nvSpPr>
        <p:spPr>
          <a:xfrm>
            <a:off x="676656" y="3310127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FCBCA8-00C0-BE9C-A2CE-8D18BEBF04D9}"/>
              </a:ext>
            </a:extLst>
          </p:cNvPr>
          <p:cNvSpPr txBox="1"/>
          <p:nvPr/>
        </p:nvSpPr>
        <p:spPr>
          <a:xfrm>
            <a:off x="1234440" y="3236975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Methodology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A4BE0B6-5EDD-BE05-2F80-A91F1559D915}"/>
              </a:ext>
            </a:extLst>
          </p:cNvPr>
          <p:cNvSpPr/>
          <p:nvPr/>
        </p:nvSpPr>
        <p:spPr>
          <a:xfrm>
            <a:off x="566928" y="3822191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FA61311-9201-3F8B-F8CB-076883A8AA8A}"/>
              </a:ext>
            </a:extLst>
          </p:cNvPr>
          <p:cNvSpPr/>
          <p:nvPr/>
        </p:nvSpPr>
        <p:spPr>
          <a:xfrm>
            <a:off x="676656" y="3941063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A0ABA-BB77-0A78-DA55-72BD8548E157}"/>
              </a:ext>
            </a:extLst>
          </p:cNvPr>
          <p:cNvSpPr txBox="1"/>
          <p:nvPr/>
        </p:nvSpPr>
        <p:spPr>
          <a:xfrm>
            <a:off x="1234440" y="3867911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Dataset &amp; Preprocessing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753D02B-3508-878E-2126-64A6410E9036}"/>
              </a:ext>
            </a:extLst>
          </p:cNvPr>
          <p:cNvSpPr/>
          <p:nvPr/>
        </p:nvSpPr>
        <p:spPr>
          <a:xfrm>
            <a:off x="566928" y="4453127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6AFE81E-B3E3-704F-5038-E8C4230325F4}"/>
              </a:ext>
            </a:extLst>
          </p:cNvPr>
          <p:cNvSpPr/>
          <p:nvPr/>
        </p:nvSpPr>
        <p:spPr>
          <a:xfrm>
            <a:off x="676656" y="4571999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F8A35B-F4EF-B503-4034-83E303990D0B}"/>
              </a:ext>
            </a:extLst>
          </p:cNvPr>
          <p:cNvSpPr txBox="1"/>
          <p:nvPr/>
        </p:nvSpPr>
        <p:spPr>
          <a:xfrm>
            <a:off x="1234440" y="4498847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Proposed Multi-Task Framework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D48F9C6-2D04-F778-3159-42942AAC1DFA}"/>
              </a:ext>
            </a:extLst>
          </p:cNvPr>
          <p:cNvSpPr/>
          <p:nvPr/>
        </p:nvSpPr>
        <p:spPr>
          <a:xfrm>
            <a:off x="566928" y="5084064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E2AE9A8-4032-0438-E277-98E29C8EC913}"/>
              </a:ext>
            </a:extLst>
          </p:cNvPr>
          <p:cNvSpPr/>
          <p:nvPr/>
        </p:nvSpPr>
        <p:spPr>
          <a:xfrm>
            <a:off x="676656" y="5202936"/>
            <a:ext cx="438912" cy="292608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024B09-4035-AAA0-7C4A-9A040715ECC4}"/>
              </a:ext>
            </a:extLst>
          </p:cNvPr>
          <p:cNvSpPr txBox="1"/>
          <p:nvPr/>
        </p:nvSpPr>
        <p:spPr>
          <a:xfrm>
            <a:off x="1234440" y="5129783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Experimental Setup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A7EA0A8-680C-CC7D-A392-6732A0120F6B}"/>
              </a:ext>
            </a:extLst>
          </p:cNvPr>
          <p:cNvSpPr/>
          <p:nvPr/>
        </p:nvSpPr>
        <p:spPr>
          <a:xfrm>
            <a:off x="6016752" y="1298448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DCD2E15-5270-4E65-EFB5-7B42CDDC7006}"/>
              </a:ext>
            </a:extLst>
          </p:cNvPr>
          <p:cNvSpPr/>
          <p:nvPr/>
        </p:nvSpPr>
        <p:spPr>
          <a:xfrm>
            <a:off x="6126480" y="1417319"/>
            <a:ext cx="438912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BFA7C3-253D-A7CF-B8BD-39C4CD77A964}"/>
              </a:ext>
            </a:extLst>
          </p:cNvPr>
          <p:cNvSpPr txBox="1"/>
          <p:nvPr/>
        </p:nvSpPr>
        <p:spPr>
          <a:xfrm>
            <a:off x="6684264" y="1344168"/>
            <a:ext cx="4370832" cy="4389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Comparison with Baselines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17BD327-266F-C044-6154-555AE7A83043}"/>
              </a:ext>
            </a:extLst>
          </p:cNvPr>
          <p:cNvSpPr/>
          <p:nvPr/>
        </p:nvSpPr>
        <p:spPr>
          <a:xfrm>
            <a:off x="6016752" y="1947671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01E8CE2-FBF2-FAC1-293B-2055F601023D}"/>
              </a:ext>
            </a:extLst>
          </p:cNvPr>
          <p:cNvSpPr/>
          <p:nvPr/>
        </p:nvSpPr>
        <p:spPr>
          <a:xfrm>
            <a:off x="6126480" y="2066542"/>
            <a:ext cx="438912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919" b="1" dirty="0">
                <a:solidFill>
                  <a:srgbClr val="FFFFFF"/>
                </a:solidFill>
                <a:latin typeface="Aptos"/>
              </a:rPr>
              <a:t>09</a:t>
            </a:r>
            <a:endParaRPr sz="919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DDCDD7-CE9A-6FF1-32B4-03C2FD8446C0}"/>
              </a:ext>
            </a:extLst>
          </p:cNvPr>
          <p:cNvSpPr txBox="1"/>
          <p:nvPr/>
        </p:nvSpPr>
        <p:spPr>
          <a:xfrm>
            <a:off x="6684264" y="2065882"/>
            <a:ext cx="4370832" cy="29392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Class-wise Performance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A080739-DE04-82EB-0C3D-E7848A029314}"/>
              </a:ext>
            </a:extLst>
          </p:cNvPr>
          <p:cNvSpPr/>
          <p:nvPr/>
        </p:nvSpPr>
        <p:spPr>
          <a:xfrm>
            <a:off x="6016752" y="2578607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5A107BB-88B4-4129-4B8D-E5B779872AFE}"/>
              </a:ext>
            </a:extLst>
          </p:cNvPr>
          <p:cNvSpPr/>
          <p:nvPr/>
        </p:nvSpPr>
        <p:spPr>
          <a:xfrm>
            <a:off x="6126480" y="2697478"/>
            <a:ext cx="438912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919" b="1" dirty="0">
                <a:solidFill>
                  <a:srgbClr val="FFFFFF"/>
                </a:solidFill>
                <a:latin typeface="Aptos"/>
              </a:rPr>
              <a:t>0</a:t>
            </a:r>
            <a:endParaRPr sz="919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289899-519D-BCB2-5552-0E28A2F82691}"/>
              </a:ext>
            </a:extLst>
          </p:cNvPr>
          <p:cNvSpPr txBox="1"/>
          <p:nvPr/>
        </p:nvSpPr>
        <p:spPr>
          <a:xfrm>
            <a:off x="6684264" y="2707591"/>
            <a:ext cx="4370832" cy="27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170" b="1">
                <a:solidFill>
                  <a:srgbClr val="1E293B"/>
                </a:solidFill>
                <a:latin typeface="Aptos"/>
              </a:rPr>
              <a:t>Real-Time Performance &amp; Model Complexity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4A995CC-3D53-7AED-B03A-45D49551B6BB}"/>
              </a:ext>
            </a:extLst>
          </p:cNvPr>
          <p:cNvSpPr/>
          <p:nvPr/>
        </p:nvSpPr>
        <p:spPr>
          <a:xfrm>
            <a:off x="6016752" y="3209542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8E26B0F-96AF-81CE-FDE9-C2C1E1C749FE}"/>
              </a:ext>
            </a:extLst>
          </p:cNvPr>
          <p:cNvSpPr/>
          <p:nvPr/>
        </p:nvSpPr>
        <p:spPr>
          <a:xfrm>
            <a:off x="6126480" y="3328414"/>
            <a:ext cx="438912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919" b="1" dirty="0">
                <a:solidFill>
                  <a:srgbClr val="FFFFFF"/>
                </a:solidFill>
                <a:latin typeface="Aptos"/>
              </a:rPr>
              <a:t>1</a:t>
            </a:r>
            <a:endParaRPr sz="919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CB920B-486C-5D62-BE62-AFC74307E6A4}"/>
              </a:ext>
            </a:extLst>
          </p:cNvPr>
          <p:cNvSpPr txBox="1"/>
          <p:nvPr/>
        </p:nvSpPr>
        <p:spPr>
          <a:xfrm>
            <a:off x="6684264" y="3327754"/>
            <a:ext cx="4370832" cy="29392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0005EF9-335B-5D92-EDAA-044B1602D4B4}"/>
              </a:ext>
            </a:extLst>
          </p:cNvPr>
          <p:cNvSpPr/>
          <p:nvPr/>
        </p:nvSpPr>
        <p:spPr>
          <a:xfrm>
            <a:off x="6016752" y="3840478"/>
            <a:ext cx="5230368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E59FFD4-FEA6-70BF-CC03-D8444B9E4F66}"/>
              </a:ext>
            </a:extLst>
          </p:cNvPr>
          <p:cNvSpPr/>
          <p:nvPr/>
        </p:nvSpPr>
        <p:spPr>
          <a:xfrm>
            <a:off x="6126480" y="3959350"/>
            <a:ext cx="438912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919" b="1" dirty="0">
                <a:solidFill>
                  <a:srgbClr val="FFFFFF"/>
                </a:solidFill>
                <a:latin typeface="Aptos"/>
              </a:rPr>
              <a:t>2</a:t>
            </a:r>
            <a:endParaRPr sz="919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0DC807-D43F-A0BB-3791-54C89DFDBBB8}"/>
              </a:ext>
            </a:extLst>
          </p:cNvPr>
          <p:cNvSpPr txBox="1"/>
          <p:nvPr/>
        </p:nvSpPr>
        <p:spPr>
          <a:xfrm>
            <a:off x="6684264" y="3958690"/>
            <a:ext cx="4370832" cy="29392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310" b="1">
                <a:solidFill>
                  <a:srgbClr val="1E293B"/>
                </a:solidFill>
                <a:latin typeface="Aptos"/>
              </a:rPr>
              <a:t>References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E94B82-F044-0D66-8A00-5F9021AAB782}"/>
              </a:ext>
            </a:extLst>
          </p:cNvPr>
          <p:cNvSpPr txBox="1"/>
          <p:nvPr/>
        </p:nvSpPr>
        <p:spPr>
          <a:xfrm>
            <a:off x="502920" y="347472"/>
            <a:ext cx="6858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 Display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A232-6D4C-5955-9166-3F21B16C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150BE0-941C-49DA-9B42-86CDD1B3911A}"/>
              </a:ext>
            </a:extLst>
          </p:cNvPr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&amp; Problem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327730-13B8-AC10-CC0D-622D3879E084}"/>
              </a:ext>
            </a:extLst>
          </p:cNvPr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Why joint skin lesion analysis matters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1B155C-478E-2D34-D81C-3667F8D32E0F}"/>
              </a:ext>
            </a:extLst>
          </p:cNvPr>
          <p:cNvSpPr/>
          <p:nvPr/>
        </p:nvSpPr>
        <p:spPr>
          <a:xfrm>
            <a:off x="246888" y="1465804"/>
            <a:ext cx="6250690" cy="3694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Skin lesion categories can look visually very similar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dermoscopic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Skin lesion analysis is challenging due to similarities in color, texture, and lesion boundaries across classes.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Classification identifies the lesion type, while segmentation locates the lesion area.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practical framework should perform both tasks jointly while maintaining fast inference.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9C40FD9-BAD8-D42F-E820-0755BE4FBD76}"/>
              </a:ext>
            </a:extLst>
          </p:cNvPr>
          <p:cNvSpPr/>
          <p:nvPr/>
        </p:nvSpPr>
        <p:spPr>
          <a:xfrm>
            <a:off x="5241852" y="4710222"/>
            <a:ext cx="6101316" cy="913337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67DC8BE-58EC-0EAC-87DC-71B56782B804}"/>
              </a:ext>
            </a:extLst>
          </p:cNvPr>
          <p:cNvSpPr/>
          <p:nvPr/>
        </p:nvSpPr>
        <p:spPr>
          <a:xfrm>
            <a:off x="5506247" y="5159980"/>
            <a:ext cx="60913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766E"/>
                </a:solidFill>
              </a:rPr>
              <a:t>Core challenge : </a:t>
            </a:r>
            <a:r>
              <a:rPr lang="en-US" sz="1600" b="1" dirty="0">
                <a:solidFill>
                  <a:srgbClr val="0F172A"/>
                </a:solidFill>
              </a:rPr>
              <a:t>Predict what the lesion is — and where it is.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D43E022-B422-E992-1078-983B9C82EEB1}"/>
              </a:ext>
            </a:extLst>
          </p:cNvPr>
          <p:cNvSpPr/>
          <p:nvPr/>
        </p:nvSpPr>
        <p:spPr>
          <a:xfrm>
            <a:off x="7814930" y="4846320"/>
            <a:ext cx="3706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9D25304-2587-0FC6-BF41-D9B887E774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35E287-DBCA-8FCF-D538-97669E6B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777" y="1011818"/>
            <a:ext cx="5103111" cy="324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1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What this study aims to achieve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5528" y="20756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7-Class Classification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5528" y="2441448"/>
            <a:ext cx="22494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Predict AKIEC, BCC, BKL, DF, MEL, NV, or VASC.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17320"/>
            <a:ext cx="64008" cy="2057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75888" y="20756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Lesion Segmentation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75888" y="2441448"/>
            <a:ext cx="22494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Generate a pixel-level mask of the lesion region.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417320"/>
            <a:ext cx="64008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18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56248" y="20756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Single Multi-Task Model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56248" y="2441448"/>
            <a:ext cx="22494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Perform classification and segmentation using shared features.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35440" y="141732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417320"/>
            <a:ext cx="6400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6184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36608" y="207568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Real-Time Capability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36608" y="2441448"/>
            <a:ext cx="192938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Measure FPS and latency under a defined hardware setup.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7280" y="4069080"/>
            <a:ext cx="9966960" cy="10515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Main objective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424281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Develop a unified Swin Transformer + U-Net framework for joint lesion classification and segmentation while maintaining practical inference speed.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B489AA54-A92C-EF83-FFEC-EC5E7A62BDDC}"/>
              </a:ext>
            </a:extLst>
          </p:cNvPr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 &amp; Research Gap</a:t>
            </a:r>
            <a:endParaRPr lang="en-US" sz="27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D4E23D13-1944-35F2-E87B-F7DD4B59EC10}"/>
              </a:ext>
            </a:extLst>
          </p:cNvPr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From local features to unified real-time-capable analysis</a:t>
            </a:r>
            <a:endParaRPr lang="en-US" sz="115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97E16BEC-C0B8-68EB-F560-E26FF656B2FB}"/>
              </a:ext>
            </a:extLst>
          </p:cNvPr>
          <p:cNvSpPr/>
          <p:nvPr/>
        </p:nvSpPr>
        <p:spPr>
          <a:xfrm>
            <a:off x="640080" y="1371600"/>
            <a:ext cx="2468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F5990B6-5EA6-B175-BD85-5B00C2E6BDF0}"/>
              </a:ext>
            </a:extLst>
          </p:cNvPr>
          <p:cNvSpPr/>
          <p:nvPr/>
        </p:nvSpPr>
        <p:spPr>
          <a:xfrm>
            <a:off x="640080" y="1371600"/>
            <a:ext cx="64008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68458C7-8674-2DF6-1A4F-155DDAEA584E}"/>
              </a:ext>
            </a:extLst>
          </p:cNvPr>
          <p:cNvSpPr/>
          <p:nvPr/>
        </p:nvSpPr>
        <p:spPr>
          <a:xfrm>
            <a:off x="841248" y="16002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0F172A"/>
                </a:solidFill>
                <a:latin typeface="Aptos"/>
              </a:rPr>
              <a:t>CNNs</a:t>
            </a:r>
            <a:r>
              <a:rPr sz="1050" b="0">
                <a:solidFill>
                  <a:srgbClr val="475569"/>
                </a:solidFill>
                <a:latin typeface="Aptos"/>
              </a:rPr>
              <a:t> [8]</a:t>
            </a:r>
            <a:endParaRPr lang="en-US" sz="155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5DB181DA-B690-FCEC-E4FF-4FAAA5802745}"/>
              </a:ext>
            </a:extLst>
          </p:cNvPr>
          <p:cNvSpPr/>
          <p:nvPr/>
        </p:nvSpPr>
        <p:spPr>
          <a:xfrm>
            <a:off x="841248" y="2029968"/>
            <a:ext cx="206654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Strong local feature extraction and widely used for lesion classification.</a:t>
            </a:r>
            <a:endParaRPr lang="en-US" sz="115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D8CAE1F9-FB68-FB90-EEF8-555A2B2677F2}"/>
              </a:ext>
            </a:extLst>
          </p:cNvPr>
          <p:cNvSpPr/>
          <p:nvPr/>
        </p:nvSpPr>
        <p:spPr>
          <a:xfrm>
            <a:off x="3337560" y="1371600"/>
            <a:ext cx="2468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5F9B395-0291-0352-D6AB-101FAE06096F}"/>
              </a:ext>
            </a:extLst>
          </p:cNvPr>
          <p:cNvSpPr/>
          <p:nvPr/>
        </p:nvSpPr>
        <p:spPr>
          <a:xfrm>
            <a:off x="3337560" y="1371600"/>
            <a:ext cx="64008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C812B7C-E584-314D-148E-24BA3A0B8576}"/>
              </a:ext>
            </a:extLst>
          </p:cNvPr>
          <p:cNvSpPr/>
          <p:nvPr/>
        </p:nvSpPr>
        <p:spPr>
          <a:xfrm>
            <a:off x="3538728" y="16002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0F172A"/>
                </a:solidFill>
                <a:latin typeface="Aptos"/>
              </a:rPr>
              <a:t>U-Net</a:t>
            </a:r>
            <a:r>
              <a:rPr sz="1050" b="0">
                <a:solidFill>
                  <a:srgbClr val="475569"/>
                </a:solidFill>
                <a:latin typeface="Aptos"/>
              </a:rPr>
              <a:t> [1], [5]</a:t>
            </a:r>
            <a:endParaRPr lang="en-US" sz="155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9FF7BE3-CE4D-BDAB-912F-D52D754E4F4A}"/>
              </a:ext>
            </a:extLst>
          </p:cNvPr>
          <p:cNvSpPr/>
          <p:nvPr/>
        </p:nvSpPr>
        <p:spPr>
          <a:xfrm>
            <a:off x="3538728" y="2029968"/>
            <a:ext cx="206654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Effective encoder–decoder design for pixel-level lesion segmentation.</a:t>
            </a:r>
            <a:endParaRPr lang="en-US" sz="11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1655D4D8-D4AE-3BB7-EAC3-62ED38F06309}"/>
              </a:ext>
            </a:extLst>
          </p:cNvPr>
          <p:cNvSpPr/>
          <p:nvPr/>
        </p:nvSpPr>
        <p:spPr>
          <a:xfrm>
            <a:off x="6035040" y="1371600"/>
            <a:ext cx="2468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C5DA15A3-D971-3ECB-63AD-5495F1EF7662}"/>
              </a:ext>
            </a:extLst>
          </p:cNvPr>
          <p:cNvSpPr/>
          <p:nvPr/>
        </p:nvSpPr>
        <p:spPr>
          <a:xfrm>
            <a:off x="6035040" y="1371600"/>
            <a:ext cx="64008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B1C8AB72-C316-D130-B887-270331BB603D}"/>
              </a:ext>
            </a:extLst>
          </p:cNvPr>
          <p:cNvSpPr/>
          <p:nvPr/>
        </p:nvSpPr>
        <p:spPr>
          <a:xfrm>
            <a:off x="6236208" y="16002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0F172A"/>
                </a:solidFill>
                <a:latin typeface="Aptos"/>
              </a:rPr>
              <a:t>ViT / Transformers</a:t>
            </a:r>
            <a:r>
              <a:rPr sz="1050" b="0">
                <a:solidFill>
                  <a:srgbClr val="475569"/>
                </a:solidFill>
                <a:latin typeface="Aptos"/>
              </a:rPr>
              <a:t> [13], [14]</a:t>
            </a:r>
            <a:endParaRPr lang="en-US" sz="155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9FD81B2-09D7-2EA9-2728-A1CD11C5F05C}"/>
              </a:ext>
            </a:extLst>
          </p:cNvPr>
          <p:cNvSpPr/>
          <p:nvPr/>
        </p:nvSpPr>
        <p:spPr>
          <a:xfrm>
            <a:off x="6236208" y="2029968"/>
            <a:ext cx="206654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Capture long-range and global contextual relationships in images.</a:t>
            </a:r>
            <a:endParaRPr lang="en-US" sz="115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A2B58009-3633-399B-3E51-1AA1C67F062E}"/>
              </a:ext>
            </a:extLst>
          </p:cNvPr>
          <p:cNvSpPr/>
          <p:nvPr/>
        </p:nvSpPr>
        <p:spPr>
          <a:xfrm>
            <a:off x="8732520" y="1371600"/>
            <a:ext cx="2788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FF2CDC77-06B8-A4AE-5E45-1119919AB937}"/>
              </a:ext>
            </a:extLst>
          </p:cNvPr>
          <p:cNvSpPr/>
          <p:nvPr/>
        </p:nvSpPr>
        <p:spPr>
          <a:xfrm>
            <a:off x="8732520" y="1371600"/>
            <a:ext cx="64008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94DCCDA6-CA33-4400-0EAF-658B03745DD8}"/>
              </a:ext>
            </a:extLst>
          </p:cNvPr>
          <p:cNvSpPr/>
          <p:nvPr/>
        </p:nvSpPr>
        <p:spPr>
          <a:xfrm>
            <a:off x="8933688" y="16002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0F172A"/>
                </a:solidFill>
                <a:latin typeface="Aptos"/>
              </a:rPr>
              <a:t>Research Gap</a:t>
            </a:r>
            <a:r>
              <a:rPr sz="1050" b="0">
                <a:solidFill>
                  <a:srgbClr val="475569"/>
                </a:solidFill>
                <a:latin typeface="Aptos"/>
              </a:rPr>
              <a:t> [3], [6]</a:t>
            </a:r>
            <a:endParaRPr lang="en-US" sz="15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8445F11F-42A8-13C7-37C4-E04060084B73}"/>
              </a:ext>
            </a:extLst>
          </p:cNvPr>
          <p:cNvSpPr/>
          <p:nvPr/>
        </p:nvSpPr>
        <p:spPr>
          <a:xfrm>
            <a:off x="8933688" y="2029968"/>
            <a:ext cx="238658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200" dirty="0"/>
              <a:t>Limited studies jointly evaluate classification, segmentation, and real-time inference in a single framework.</a:t>
            </a:r>
            <a:endParaRPr lang="en-US" sz="11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7DD53110-3CCE-8C1F-DD4F-2B8296CC4EFF}"/>
              </a:ext>
            </a:extLst>
          </p:cNvPr>
          <p:cNvSpPr/>
          <p:nvPr/>
        </p:nvSpPr>
        <p:spPr>
          <a:xfrm>
            <a:off x="713232" y="4160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Our response to the gap</a:t>
            </a:r>
            <a:endParaRPr lang="en-US" sz="15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B65C1DC4-8AAA-1788-4B2A-9DE4E3E785C9}"/>
              </a:ext>
            </a:extLst>
          </p:cNvPr>
          <p:cNvSpPr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/>
              <a:t>• Swin Transformer for hierarchical shared feature extraction</a:t>
            </a:r>
            <a:br>
              <a:rPr lang="en-US" sz="1600" dirty="0"/>
            </a:br>
            <a:r>
              <a:rPr lang="en-US" sz="1600" dirty="0"/>
              <a:t>• Classification head + U-Net decoder for joint prediction</a:t>
            </a:r>
            <a:br>
              <a:rPr lang="en-US" sz="1600" dirty="0"/>
            </a:br>
            <a:r>
              <a:rPr lang="en-US" sz="1600" dirty="0"/>
              <a:t>• Comprehensive evaluation using accuracy, Dice, </a:t>
            </a:r>
            <a:r>
              <a:rPr lang="en-US" sz="1600" dirty="0" err="1"/>
              <a:t>IoU</a:t>
            </a:r>
            <a:r>
              <a:rPr lang="en-US" sz="1600" dirty="0"/>
              <a:t>, FPS, latency, and model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F61C0BE4-12DB-5740-432F-F14169B0822A}"/>
              </a:ext>
            </a:extLst>
          </p:cNvPr>
          <p:cNvSpPr/>
          <p:nvPr/>
        </p:nvSpPr>
        <p:spPr>
          <a:xfrm>
            <a:off x="393192" y="320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D9CB20D-E9E6-7DB8-ED1D-3CE1EAAD32D7}"/>
              </a:ext>
            </a:extLst>
          </p:cNvPr>
          <p:cNvSpPr/>
          <p:nvPr/>
        </p:nvSpPr>
        <p:spPr>
          <a:xfrm>
            <a:off x="411480" y="749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research workflow</a:t>
            </a:r>
            <a:endParaRPr lang="en-US" sz="115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2E3D823E-F120-A64B-3CF5-0C425E50E145}"/>
              </a:ext>
            </a:extLst>
          </p:cNvPr>
          <p:cNvSpPr/>
          <p:nvPr/>
        </p:nvSpPr>
        <p:spPr>
          <a:xfrm>
            <a:off x="594360" y="2039112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C8F7EC"/>
          </a:solidFill>
          <a:ln w="16510">
            <a:solidFill>
              <a:srgbClr val="42D8C1"/>
            </a:solidFill>
            <a:prstDash val="solid"/>
          </a:ln>
        </p:spPr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78DC7BB-D700-B8C9-A6B9-82FFF1C44765}"/>
              </a:ext>
            </a:extLst>
          </p:cNvPr>
          <p:cNvSpPr/>
          <p:nvPr/>
        </p:nvSpPr>
        <p:spPr>
          <a:xfrm>
            <a:off x="667512" y="219456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HAM10000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42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CE02D6D-33CC-168C-8AD1-1127D9181EA5}"/>
              </a:ext>
            </a:extLst>
          </p:cNvPr>
          <p:cNvSpPr/>
          <p:nvPr/>
        </p:nvSpPr>
        <p:spPr>
          <a:xfrm>
            <a:off x="2240280" y="2039112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DCEFFC"/>
          </a:solidFill>
          <a:ln w="16510">
            <a:solidFill>
              <a:srgbClr val="6EC6F1"/>
            </a:solidFill>
            <a:prstDash val="solid"/>
          </a:ln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ABCC2FB-A8E1-A41A-CCC2-7860FC3D1FB8}"/>
              </a:ext>
            </a:extLst>
          </p:cNvPr>
          <p:cNvSpPr/>
          <p:nvPr/>
        </p:nvSpPr>
        <p:spPr>
          <a:xfrm>
            <a:off x="2313432" y="219456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42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DCFFE175-6B9D-A3F5-469A-2E66C36C65E1}"/>
              </a:ext>
            </a:extLst>
          </p:cNvPr>
          <p:cNvSpPr/>
          <p:nvPr/>
        </p:nvSpPr>
        <p:spPr>
          <a:xfrm>
            <a:off x="3886200" y="2039112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C8F7EC"/>
          </a:solidFill>
          <a:ln w="16510">
            <a:solidFill>
              <a:srgbClr val="42D8C1"/>
            </a:solidFill>
            <a:prstDash val="solid"/>
          </a:ln>
        </p:spPr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213A3964-9767-4F34-7AC7-882A5E52CC3F}"/>
              </a:ext>
            </a:extLst>
          </p:cNvPr>
          <p:cNvSpPr/>
          <p:nvPr/>
        </p:nvSpPr>
        <p:spPr>
          <a:xfrm>
            <a:off x="3959352" y="21945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 Transformer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142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E4040190-1F22-31B1-36C5-9E9C008C0CC5}"/>
              </a:ext>
            </a:extLst>
          </p:cNvPr>
          <p:cNvSpPr/>
          <p:nvPr/>
        </p:nvSpPr>
        <p:spPr>
          <a:xfrm>
            <a:off x="6080760" y="1344168"/>
            <a:ext cx="1783080" cy="850392"/>
          </a:xfrm>
          <a:prstGeom prst="roundRect">
            <a:avLst>
              <a:gd name="adj" fmla="val 8602"/>
            </a:avLst>
          </a:prstGeom>
          <a:solidFill>
            <a:srgbClr val="DCEFFC"/>
          </a:solidFill>
          <a:ln w="16510">
            <a:solidFill>
              <a:srgbClr val="6EC6F1"/>
            </a:solidFill>
            <a:prstDash val="solid"/>
          </a:ln>
        </p:spPr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F87EFC44-5153-1914-DD48-1187977872D5}"/>
              </a:ext>
            </a:extLst>
          </p:cNvPr>
          <p:cNvSpPr/>
          <p:nvPr/>
        </p:nvSpPr>
        <p:spPr>
          <a:xfrm>
            <a:off x="6153912" y="149961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Head</a:t>
            </a:r>
            <a:endParaRPr lang="en-US" sz="132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E03EE4B5-62A2-5CEB-8660-72CDE7E94FCD}"/>
              </a:ext>
            </a:extLst>
          </p:cNvPr>
          <p:cNvSpPr/>
          <p:nvPr/>
        </p:nvSpPr>
        <p:spPr>
          <a:xfrm>
            <a:off x="6153912" y="188366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D5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lesion class</a:t>
            </a:r>
            <a:endParaRPr lang="en-US" sz="105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F5D8E578-D959-B1C2-5BE4-602352148969}"/>
              </a:ext>
            </a:extLst>
          </p:cNvPr>
          <p:cNvSpPr/>
          <p:nvPr/>
        </p:nvSpPr>
        <p:spPr>
          <a:xfrm>
            <a:off x="6080760" y="2770632"/>
            <a:ext cx="1783080" cy="850392"/>
          </a:xfrm>
          <a:prstGeom prst="roundRect">
            <a:avLst>
              <a:gd name="adj" fmla="val 8602"/>
            </a:avLst>
          </a:prstGeom>
          <a:solidFill>
            <a:srgbClr val="EFE7FF"/>
          </a:solidFill>
          <a:ln w="16510">
            <a:solidFill>
              <a:srgbClr val="A889F4"/>
            </a:solidFill>
            <a:prstDash val="solid"/>
          </a:ln>
        </p:spPr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51DC5C8E-D955-0F8D-08F3-8D993D20D905}"/>
              </a:ext>
            </a:extLst>
          </p:cNvPr>
          <p:cNvSpPr/>
          <p:nvPr/>
        </p:nvSpPr>
        <p:spPr>
          <a:xfrm>
            <a:off x="6153912" y="292608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 Decoder</a:t>
            </a:r>
            <a:endParaRPr lang="en-US" sz="132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9ADCC041-C255-59DA-91BE-022F57B02806}"/>
              </a:ext>
            </a:extLst>
          </p:cNvPr>
          <p:cNvSpPr/>
          <p:nvPr/>
        </p:nvSpPr>
        <p:spPr>
          <a:xfrm>
            <a:off x="6153912" y="331012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D5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lesion mask</a:t>
            </a:r>
            <a:endParaRPr lang="en-US" sz="105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79C77DC0-0F7B-EF0A-72E0-9FD4DB1E34D1}"/>
              </a:ext>
            </a:extLst>
          </p:cNvPr>
          <p:cNvSpPr/>
          <p:nvPr/>
        </p:nvSpPr>
        <p:spPr>
          <a:xfrm>
            <a:off x="9308592" y="2039112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DCEFFC"/>
          </a:solidFill>
          <a:ln w="16510">
            <a:solidFill>
              <a:srgbClr val="6EC6F1"/>
            </a:solidFill>
            <a:prstDash val="solid"/>
          </a:ln>
        </p:spPr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E1B65D9-9A6C-EB89-6E03-D70614D9A522}"/>
              </a:ext>
            </a:extLst>
          </p:cNvPr>
          <p:cNvSpPr/>
          <p:nvPr/>
        </p:nvSpPr>
        <p:spPr>
          <a:xfrm>
            <a:off x="9381744" y="2194560"/>
            <a:ext cx="1362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42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0F88BABA-D2CA-B864-B22D-60A3F445FD11}"/>
              </a:ext>
            </a:extLst>
          </p:cNvPr>
          <p:cNvSpPr/>
          <p:nvPr/>
        </p:nvSpPr>
        <p:spPr>
          <a:xfrm>
            <a:off x="2011680" y="2414016"/>
            <a:ext cx="219456" cy="0"/>
          </a:xfrm>
          <a:prstGeom prst="line">
            <a:avLst/>
          </a:prstGeom>
          <a:noFill/>
          <a:ln w="27940">
            <a:solidFill>
              <a:srgbClr val="8FA3B8"/>
            </a:solidFill>
            <a:prstDash val="solid"/>
            <a:headEnd type="none"/>
            <a:tailEnd type="triangle"/>
          </a:ln>
        </p:spPr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F0A64251-26A6-CEB1-ED2D-471A39EC3264}"/>
              </a:ext>
            </a:extLst>
          </p:cNvPr>
          <p:cNvSpPr/>
          <p:nvPr/>
        </p:nvSpPr>
        <p:spPr>
          <a:xfrm>
            <a:off x="3657600" y="2414016"/>
            <a:ext cx="219456" cy="0"/>
          </a:xfrm>
          <a:prstGeom prst="line">
            <a:avLst/>
          </a:prstGeom>
          <a:noFill/>
          <a:ln w="27940">
            <a:solidFill>
              <a:srgbClr val="8FA3B8"/>
            </a:solidFill>
            <a:prstDash val="solid"/>
            <a:headEnd type="none"/>
            <a:tailEnd type="triangle"/>
          </a:ln>
        </p:spPr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A96DE692-D2BA-BA84-E025-721C626276C1}"/>
              </a:ext>
            </a:extLst>
          </p:cNvPr>
          <p:cNvSpPr/>
          <p:nvPr/>
        </p:nvSpPr>
        <p:spPr>
          <a:xfrm>
            <a:off x="5440680" y="2414016"/>
            <a:ext cx="320040" cy="0"/>
          </a:xfrm>
          <a:prstGeom prst="line">
            <a:avLst/>
          </a:prstGeom>
          <a:noFill/>
          <a:ln w="27940">
            <a:solidFill>
              <a:srgbClr val="8FA3B8"/>
            </a:solidFill>
            <a:prstDash val="solid"/>
          </a:ln>
        </p:spPr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0A9F8E0B-75E2-D2BF-150C-4C1B5CEEA3ED}"/>
              </a:ext>
            </a:extLst>
          </p:cNvPr>
          <p:cNvSpPr/>
          <p:nvPr/>
        </p:nvSpPr>
        <p:spPr>
          <a:xfrm>
            <a:off x="5760720" y="2414016"/>
            <a:ext cx="0" cy="0"/>
          </a:xfrm>
          <a:prstGeom prst="line">
            <a:avLst/>
          </a:prstGeom>
          <a:noFill/>
          <a:ln w="27940">
            <a:solidFill>
              <a:srgbClr val="8FA3B8"/>
            </a:solidFill>
            <a:prstDash val="solid"/>
          </a:ln>
        </p:spPr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C20A8BE7-C73D-2D65-2D72-DB8C5643820C}"/>
              </a:ext>
            </a:extLst>
          </p:cNvPr>
          <p:cNvSpPr/>
          <p:nvPr/>
        </p:nvSpPr>
        <p:spPr>
          <a:xfrm>
            <a:off x="5760720" y="2414016"/>
            <a:ext cx="0" cy="78638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0C4B16F3-20E8-90C4-8C28-651D36762536}"/>
              </a:ext>
            </a:extLst>
          </p:cNvPr>
          <p:cNvSpPr/>
          <p:nvPr/>
        </p:nvSpPr>
        <p:spPr>
          <a:xfrm>
            <a:off x="5760720" y="3200400"/>
            <a:ext cx="320040" cy="0"/>
          </a:xfrm>
          <a:prstGeom prst="line">
            <a:avLst/>
          </a:prstGeom>
          <a:noFill/>
          <a:ln w="2794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5AB3C77A-D7D9-FB85-51D6-0C7D900798CF}"/>
              </a:ext>
            </a:extLst>
          </p:cNvPr>
          <p:cNvSpPr/>
          <p:nvPr/>
        </p:nvSpPr>
        <p:spPr>
          <a:xfrm>
            <a:off x="7863840" y="1773936"/>
            <a:ext cx="658368" cy="0"/>
          </a:xfrm>
          <a:prstGeom prst="line">
            <a:avLst/>
          </a:prstGeom>
          <a:noFill/>
          <a:ln w="2794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C94271E8-002D-8133-35F7-82EBB97B2875}"/>
              </a:ext>
            </a:extLst>
          </p:cNvPr>
          <p:cNvSpPr/>
          <p:nvPr/>
        </p:nvSpPr>
        <p:spPr>
          <a:xfrm>
            <a:off x="8522208" y="1773936"/>
            <a:ext cx="0" cy="640080"/>
          </a:xfrm>
          <a:prstGeom prst="line">
            <a:avLst/>
          </a:prstGeom>
          <a:noFill/>
          <a:ln w="2794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157FFAB2-8C38-021E-EE89-8CB6B56AB9A0}"/>
              </a:ext>
            </a:extLst>
          </p:cNvPr>
          <p:cNvSpPr/>
          <p:nvPr/>
        </p:nvSpPr>
        <p:spPr>
          <a:xfrm>
            <a:off x="8522208" y="3200400"/>
            <a:ext cx="0" cy="0"/>
          </a:xfrm>
          <a:prstGeom prst="line">
            <a:avLst/>
          </a:prstGeom>
          <a:noFill/>
          <a:ln w="27940">
            <a:solidFill>
              <a:srgbClr val="8FA3B8"/>
            </a:solidFill>
            <a:prstDash val="solid"/>
          </a:ln>
        </p:spPr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456B706A-941A-06BD-BF0C-017B55773155}"/>
              </a:ext>
            </a:extLst>
          </p:cNvPr>
          <p:cNvSpPr/>
          <p:nvPr/>
        </p:nvSpPr>
        <p:spPr>
          <a:xfrm>
            <a:off x="8522208" y="2414016"/>
            <a:ext cx="786384" cy="0"/>
          </a:xfrm>
          <a:prstGeom prst="line">
            <a:avLst/>
          </a:prstGeom>
          <a:noFill/>
          <a:ln w="27940">
            <a:solidFill>
              <a:schemeClr val="accent1">
                <a:lumMod val="60000"/>
                <a:lumOff val="40000"/>
              </a:schemeClr>
            </a:solidFill>
            <a:prstDash val="solid"/>
            <a:headEnd type="none"/>
            <a:tailEnd type="triangle"/>
          </a:ln>
        </p:spPr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E39B141B-368C-9748-4933-BBE7F9B154C5}"/>
              </a:ext>
            </a:extLst>
          </p:cNvPr>
          <p:cNvSpPr/>
          <p:nvPr/>
        </p:nvSpPr>
        <p:spPr>
          <a:xfrm>
            <a:off x="4837176" y="1623593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D5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hierarchical features</a:t>
            </a:r>
            <a:endParaRPr lang="en-US" sz="850" dirty="0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F82F15EB-E363-3A24-D138-AE32E2A0D290}"/>
              </a:ext>
            </a:extLst>
          </p:cNvPr>
          <p:cNvSpPr/>
          <p:nvPr/>
        </p:nvSpPr>
        <p:spPr>
          <a:xfrm>
            <a:off x="640080" y="4251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in one line</a:t>
            </a:r>
            <a:endParaRPr lang="en-US" sz="1350" dirty="0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1AB601F2-2716-8E3E-EB01-B1A472879FB3}"/>
              </a:ext>
            </a:extLst>
          </p:cNvPr>
          <p:cNvSpPr/>
          <p:nvPr/>
        </p:nvSpPr>
        <p:spPr>
          <a:xfrm>
            <a:off x="658368" y="45537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Dermoscopic images → preprocessing → shared feature extraction → lesion class + lesion mask → performance evaluation</a:t>
            </a:r>
            <a:endParaRPr lang="en-US" sz="1700" dirty="0"/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559464D7-5CB6-F25E-DDE0-C69FBA1B84BD}"/>
              </a:ext>
            </a:extLst>
          </p:cNvPr>
          <p:cNvSpPr/>
          <p:nvPr/>
        </p:nvSpPr>
        <p:spPr>
          <a:xfrm>
            <a:off x="3291840" y="5257800"/>
            <a:ext cx="5623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</p:spPr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EA062134-F903-1DCA-FAC0-746A25F4DE10}"/>
              </a:ext>
            </a:extLst>
          </p:cNvPr>
          <p:cNvSpPr/>
          <p:nvPr/>
        </p:nvSpPr>
        <p:spPr>
          <a:xfrm>
            <a:off x="3456432" y="5376672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D5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outputs are produced in parallel from one shared encoder.</a:t>
            </a:r>
            <a:endParaRPr lang="en-US" sz="1250" dirty="0"/>
          </a:p>
        </p:txBody>
      </p:sp>
      <p:sp>
        <p:nvSpPr>
          <p:cNvPr id="57" name="Slide Number Placeholder 0">
            <a:extLst>
              <a:ext uri="{FF2B5EF4-FFF2-40B4-BE49-F238E27FC236}">
                <a16:creationId xmlns:a16="http://schemas.microsoft.com/office/drawing/2014/main" id="{A1533E10-F456-82DF-EF96-C1D5DF87CF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4710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56CF157A-7EDA-24D8-52BB-839A68F9B677}"/>
              </a:ext>
            </a:extLst>
          </p:cNvPr>
          <p:cNvCxnSpPr>
            <a:cxnSpLocks/>
          </p:cNvCxnSpPr>
          <p:nvPr/>
        </p:nvCxnSpPr>
        <p:spPr>
          <a:xfrm flipV="1">
            <a:off x="5440680" y="1618489"/>
            <a:ext cx="640079" cy="576071"/>
          </a:xfrm>
          <a:prstGeom prst="bentConnector3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647BBEA-6733-6F24-DAEC-B79C5946AFD8}"/>
              </a:ext>
            </a:extLst>
          </p:cNvPr>
          <p:cNvCxnSpPr>
            <a:cxnSpLocks/>
          </p:cNvCxnSpPr>
          <p:nvPr/>
        </p:nvCxnSpPr>
        <p:spPr>
          <a:xfrm flipV="1">
            <a:off x="7863840" y="2532888"/>
            <a:ext cx="1444752" cy="777240"/>
          </a:xfrm>
          <a:prstGeom prst="bentConnector3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472" y="25250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3DA1798-396C-1462-8B29-DF1CB4ED819F}"/>
              </a:ext>
            </a:extLst>
          </p:cNvPr>
          <p:cNvSpPr/>
          <p:nvPr/>
        </p:nvSpPr>
        <p:spPr>
          <a:xfrm>
            <a:off x="7360920" y="5502773"/>
            <a:ext cx="3931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endParaRPr lang="en-US" sz="1200" dirty="0"/>
          </a:p>
        </p:txBody>
      </p:sp>
      <p:sp>
        <p:nvSpPr>
          <p:cNvPr id="73" name="Shape 0">
            <a:extLst>
              <a:ext uri="{FF2B5EF4-FFF2-40B4-BE49-F238E27FC236}">
                <a16:creationId xmlns:a16="http://schemas.microsoft.com/office/drawing/2014/main" id="{CA5D39D5-CEFF-B927-4B46-B26F827FBE8F}"/>
              </a:ext>
            </a:extLst>
          </p:cNvPr>
          <p:cNvSpPr/>
          <p:nvPr/>
        </p:nvSpPr>
        <p:spPr>
          <a:xfrm>
            <a:off x="348392" y="822960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EDE4FA"/>
          </a:solidFill>
          <a:ln w="15240">
            <a:solidFill>
              <a:srgbClr val="B7A0DA"/>
            </a:solidFill>
            <a:prstDash val="solid"/>
          </a:ln>
        </p:spPr>
      </p:sp>
      <p:sp>
        <p:nvSpPr>
          <p:cNvPr id="74" name="Text 3">
            <a:extLst>
              <a:ext uri="{FF2B5EF4-FFF2-40B4-BE49-F238E27FC236}">
                <a16:creationId xmlns:a16="http://schemas.microsoft.com/office/drawing/2014/main" id="{B4BF33A4-8EFE-B85C-7D87-877BA1774BD9}"/>
              </a:ext>
            </a:extLst>
          </p:cNvPr>
          <p:cNvSpPr/>
          <p:nvPr/>
        </p:nvSpPr>
        <p:spPr>
          <a:xfrm>
            <a:off x="627609" y="960120"/>
            <a:ext cx="2699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HAM10000 Dataset</a:t>
            </a:r>
            <a:endParaRPr lang="en-US" sz="1200" dirty="0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92D1D479-AD28-5B26-0346-4AB98C322739}"/>
              </a:ext>
            </a:extLst>
          </p:cNvPr>
          <p:cNvSpPr/>
          <p:nvPr/>
        </p:nvSpPr>
        <p:spPr>
          <a:xfrm>
            <a:off x="2137870" y="1312164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76" name="Shape 5">
            <a:extLst>
              <a:ext uri="{FF2B5EF4-FFF2-40B4-BE49-F238E27FC236}">
                <a16:creationId xmlns:a16="http://schemas.microsoft.com/office/drawing/2014/main" id="{92041BA9-3608-7EAD-08B8-37B112642389}"/>
              </a:ext>
            </a:extLst>
          </p:cNvPr>
          <p:cNvSpPr/>
          <p:nvPr/>
        </p:nvSpPr>
        <p:spPr>
          <a:xfrm>
            <a:off x="348392" y="1453896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E8F2FF"/>
          </a:solidFill>
          <a:ln w="15240">
            <a:solidFill>
              <a:srgbClr val="9CC4E8"/>
            </a:solidFill>
            <a:prstDash val="solid"/>
          </a:ln>
        </p:spPr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09EA8084-E4AC-052E-2172-13B2DE5D0AD3}"/>
              </a:ext>
            </a:extLst>
          </p:cNvPr>
          <p:cNvSpPr/>
          <p:nvPr/>
        </p:nvSpPr>
        <p:spPr>
          <a:xfrm>
            <a:off x="627609" y="1517904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+ Masks + Metadata</a:t>
            </a:r>
            <a:endParaRPr lang="en-US" sz="1200" dirty="0"/>
          </a:p>
        </p:txBody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70F33CA6-B325-CF71-C05E-02E2F53CEA0F}"/>
              </a:ext>
            </a:extLst>
          </p:cNvPr>
          <p:cNvSpPr/>
          <p:nvPr/>
        </p:nvSpPr>
        <p:spPr>
          <a:xfrm>
            <a:off x="819753" y="1719072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Dermoscopic image, lesion mask, diagnosis label</a:t>
            </a:r>
            <a:endParaRPr lang="en-US" sz="950" dirty="0"/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FAB3BE9B-0F18-9810-44D5-18A056DAEDEA}"/>
              </a:ext>
            </a:extLst>
          </p:cNvPr>
          <p:cNvSpPr/>
          <p:nvPr/>
        </p:nvSpPr>
        <p:spPr>
          <a:xfrm>
            <a:off x="2137870" y="1943100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5A7F9508-306B-6147-7CE9-34B0B410C88E}"/>
              </a:ext>
            </a:extLst>
          </p:cNvPr>
          <p:cNvSpPr/>
          <p:nvPr/>
        </p:nvSpPr>
        <p:spPr>
          <a:xfrm>
            <a:off x="348392" y="2084832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EAF7EA"/>
          </a:solidFill>
          <a:ln w="15240">
            <a:solidFill>
              <a:srgbClr val="9AC79B"/>
            </a:solidFill>
            <a:prstDash val="solid"/>
          </a:ln>
        </p:spPr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73015861-63EE-76CD-2631-547B9B2A26F5}"/>
              </a:ext>
            </a:extLst>
          </p:cNvPr>
          <p:cNvSpPr/>
          <p:nvPr/>
        </p:nvSpPr>
        <p:spPr>
          <a:xfrm>
            <a:off x="627609" y="2162556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Image–Mask–Label Matching &amp; Cleaning</a:t>
            </a:r>
            <a:endParaRPr lang="en-US" sz="1200" dirty="0"/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C3973B0C-6F07-CA01-94D6-71D104F33D2E}"/>
              </a:ext>
            </a:extLst>
          </p:cNvPr>
          <p:cNvSpPr/>
          <p:nvPr/>
        </p:nvSpPr>
        <p:spPr>
          <a:xfrm>
            <a:off x="713427" y="2404872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by image ID; remove incomplete samples</a:t>
            </a:r>
            <a:endParaRPr lang="en-US" sz="950" dirty="0"/>
          </a:p>
        </p:txBody>
      </p:sp>
      <p:sp>
        <p:nvSpPr>
          <p:cNvPr id="83" name="Shape 16">
            <a:extLst>
              <a:ext uri="{FF2B5EF4-FFF2-40B4-BE49-F238E27FC236}">
                <a16:creationId xmlns:a16="http://schemas.microsoft.com/office/drawing/2014/main" id="{623ED871-1199-70F0-D9E0-2EBC9A062AFE}"/>
              </a:ext>
            </a:extLst>
          </p:cNvPr>
          <p:cNvSpPr/>
          <p:nvPr/>
        </p:nvSpPr>
        <p:spPr>
          <a:xfrm>
            <a:off x="2137870" y="2574036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F0AF5A17-D75C-6D56-8185-50280B38C368}"/>
              </a:ext>
            </a:extLst>
          </p:cNvPr>
          <p:cNvSpPr/>
          <p:nvPr/>
        </p:nvSpPr>
        <p:spPr>
          <a:xfrm>
            <a:off x="348392" y="2715768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FFF2D9"/>
          </a:solidFill>
          <a:ln w="15240">
            <a:solidFill>
              <a:srgbClr val="E6C57A"/>
            </a:solidFill>
            <a:prstDash val="solid"/>
          </a:ln>
        </p:spPr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461717D4-1E5C-8C9A-EA73-97DD06C8FA69}"/>
              </a:ext>
            </a:extLst>
          </p:cNvPr>
          <p:cNvSpPr/>
          <p:nvPr/>
        </p:nvSpPr>
        <p:spPr>
          <a:xfrm>
            <a:off x="713427" y="2779776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 Images &amp; Masks</a:t>
            </a:r>
            <a:endParaRPr lang="en-US" sz="120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60799BB9-AF82-578D-EAFA-494D4A859A8C}"/>
              </a:ext>
            </a:extLst>
          </p:cNvPr>
          <p:cNvSpPr/>
          <p:nvPr/>
        </p:nvSpPr>
        <p:spPr>
          <a:xfrm>
            <a:off x="819753" y="2980944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224 × 224</a:t>
            </a:r>
            <a:endParaRPr lang="en-US" sz="950" dirty="0"/>
          </a:p>
        </p:txBody>
      </p:sp>
      <p:sp>
        <p:nvSpPr>
          <p:cNvPr id="87" name="Shape 22">
            <a:extLst>
              <a:ext uri="{FF2B5EF4-FFF2-40B4-BE49-F238E27FC236}">
                <a16:creationId xmlns:a16="http://schemas.microsoft.com/office/drawing/2014/main" id="{3FE42E35-704F-8E28-121E-BB01F40E6885}"/>
              </a:ext>
            </a:extLst>
          </p:cNvPr>
          <p:cNvSpPr/>
          <p:nvPr/>
        </p:nvSpPr>
        <p:spPr>
          <a:xfrm>
            <a:off x="2137870" y="3204972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88" name="Shape 23">
            <a:extLst>
              <a:ext uri="{FF2B5EF4-FFF2-40B4-BE49-F238E27FC236}">
                <a16:creationId xmlns:a16="http://schemas.microsoft.com/office/drawing/2014/main" id="{70489884-03F4-557B-472B-14505B348BF2}"/>
              </a:ext>
            </a:extLst>
          </p:cNvPr>
          <p:cNvSpPr/>
          <p:nvPr/>
        </p:nvSpPr>
        <p:spPr>
          <a:xfrm>
            <a:off x="348392" y="3346704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FDE7ED"/>
          </a:solidFill>
          <a:ln w="15240">
            <a:solidFill>
              <a:srgbClr val="E3A2B3"/>
            </a:solidFill>
            <a:prstDash val="solid"/>
          </a:ln>
        </p:spPr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827BDA8D-B6BF-3549-DF75-F7FEA41E3106}"/>
              </a:ext>
            </a:extLst>
          </p:cNvPr>
          <p:cNvSpPr/>
          <p:nvPr/>
        </p:nvSpPr>
        <p:spPr>
          <a:xfrm>
            <a:off x="713427" y="3410712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8223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Normalization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Tensor Conversion</a:t>
            </a:r>
            <a:r>
              <a:rPr lang="en-US" sz="1200" b="1" dirty="0">
                <a:solidFill>
                  <a:srgbClr val="18223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E72FCE5B-6C32-FBD1-300C-3E9C3224F564}"/>
              </a:ext>
            </a:extLst>
          </p:cNvPr>
          <p:cNvSpPr/>
          <p:nvPr/>
        </p:nvSpPr>
        <p:spPr>
          <a:xfrm>
            <a:off x="819753" y="3611880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inputs for model training</a:t>
            </a:r>
            <a:endParaRPr lang="en-US" sz="950" dirty="0"/>
          </a:p>
        </p:txBody>
      </p:sp>
      <p:sp>
        <p:nvSpPr>
          <p:cNvPr id="91" name="Shape 28">
            <a:extLst>
              <a:ext uri="{FF2B5EF4-FFF2-40B4-BE49-F238E27FC236}">
                <a16:creationId xmlns:a16="http://schemas.microsoft.com/office/drawing/2014/main" id="{05A75C99-71AB-75F8-9046-6527AF8CD012}"/>
              </a:ext>
            </a:extLst>
          </p:cNvPr>
          <p:cNvSpPr/>
          <p:nvPr/>
        </p:nvSpPr>
        <p:spPr>
          <a:xfrm>
            <a:off x="2137870" y="3835908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92" name="Shape 29">
            <a:extLst>
              <a:ext uri="{FF2B5EF4-FFF2-40B4-BE49-F238E27FC236}">
                <a16:creationId xmlns:a16="http://schemas.microsoft.com/office/drawing/2014/main" id="{92AFFFF1-BFF2-8F6E-3207-95D3A0461D5C}"/>
              </a:ext>
            </a:extLst>
          </p:cNvPr>
          <p:cNvSpPr/>
          <p:nvPr/>
        </p:nvSpPr>
        <p:spPr>
          <a:xfrm>
            <a:off x="348392" y="3977640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E7F6F8"/>
          </a:solidFill>
          <a:ln w="15240">
            <a:solidFill>
              <a:srgbClr val="9BCFD3"/>
            </a:solidFill>
            <a:prstDash val="solid"/>
          </a:ln>
        </p:spPr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C19BEAB3-7B61-50F8-A57A-C4D969CEDFC9}"/>
              </a:ext>
            </a:extLst>
          </p:cNvPr>
          <p:cNvSpPr/>
          <p:nvPr/>
        </p:nvSpPr>
        <p:spPr>
          <a:xfrm>
            <a:off x="788320" y="4007145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 Augmentation</a:t>
            </a:r>
            <a:endParaRPr lang="en-US" sz="1200" dirty="0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ADF11C72-E6D8-98F0-760C-1F27E8B6EFA9}"/>
              </a:ext>
            </a:extLst>
          </p:cNvPr>
          <p:cNvSpPr/>
          <p:nvPr/>
        </p:nvSpPr>
        <p:spPr>
          <a:xfrm>
            <a:off x="508413" y="4226601"/>
            <a:ext cx="2979007" cy="17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/>
              <a:t>Horizontal/vertical flipping, random rotation, scaling, and brightness–contrast adjustment</a:t>
            </a:r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A0E8F584-2695-4DEC-E9A5-9C77C8A8C8BE}"/>
              </a:ext>
            </a:extLst>
          </p:cNvPr>
          <p:cNvSpPr/>
          <p:nvPr/>
        </p:nvSpPr>
        <p:spPr>
          <a:xfrm>
            <a:off x="2137870" y="4466844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96" name="Shape 35">
            <a:extLst>
              <a:ext uri="{FF2B5EF4-FFF2-40B4-BE49-F238E27FC236}">
                <a16:creationId xmlns:a16="http://schemas.microsoft.com/office/drawing/2014/main" id="{6516EFCA-120A-FE7C-98AF-3140C93DAE04}"/>
              </a:ext>
            </a:extLst>
          </p:cNvPr>
          <p:cNvSpPr/>
          <p:nvPr/>
        </p:nvSpPr>
        <p:spPr>
          <a:xfrm>
            <a:off x="348392" y="4608576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E9F0FB"/>
          </a:solidFill>
          <a:ln w="15240">
            <a:solidFill>
              <a:srgbClr val="9FB9E0"/>
            </a:solidFill>
            <a:prstDash val="solid"/>
          </a:ln>
        </p:spPr>
      </p:sp>
      <p:sp>
        <p:nvSpPr>
          <p:cNvPr id="97" name="Text 38">
            <a:extLst>
              <a:ext uri="{FF2B5EF4-FFF2-40B4-BE49-F238E27FC236}">
                <a16:creationId xmlns:a16="http://schemas.microsoft.com/office/drawing/2014/main" id="{09733316-44CD-0CDF-7782-3B5B0EB3BCB8}"/>
              </a:ext>
            </a:extLst>
          </p:cNvPr>
          <p:cNvSpPr/>
          <p:nvPr/>
        </p:nvSpPr>
        <p:spPr>
          <a:xfrm>
            <a:off x="788320" y="4680876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3A8A2087-65DC-6593-B4ED-15B26429E268}"/>
              </a:ext>
            </a:extLst>
          </p:cNvPr>
          <p:cNvSpPr/>
          <p:nvPr/>
        </p:nvSpPr>
        <p:spPr>
          <a:xfrm>
            <a:off x="788320" y="4885182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lesion classes</a:t>
            </a:r>
            <a:endParaRPr lang="en-US" sz="950" dirty="0"/>
          </a:p>
        </p:txBody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B9A0BF0D-0DE4-590D-2141-7EA9E5E069CC}"/>
              </a:ext>
            </a:extLst>
          </p:cNvPr>
          <p:cNvSpPr/>
          <p:nvPr/>
        </p:nvSpPr>
        <p:spPr>
          <a:xfrm>
            <a:off x="2137870" y="5097780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100" name="Shape 41">
            <a:extLst>
              <a:ext uri="{FF2B5EF4-FFF2-40B4-BE49-F238E27FC236}">
                <a16:creationId xmlns:a16="http://schemas.microsoft.com/office/drawing/2014/main" id="{DE7ADFB5-7ABD-D20E-DB7C-F53373B7D3D3}"/>
              </a:ext>
            </a:extLst>
          </p:cNvPr>
          <p:cNvSpPr/>
          <p:nvPr/>
        </p:nvSpPr>
        <p:spPr>
          <a:xfrm>
            <a:off x="348392" y="5239512"/>
            <a:ext cx="3257535" cy="475488"/>
          </a:xfrm>
          <a:prstGeom prst="roundRect">
            <a:avLst>
              <a:gd name="adj" fmla="val 15385"/>
            </a:avLst>
          </a:prstGeom>
          <a:solidFill>
            <a:srgbClr val="EEE6F8"/>
          </a:solidFill>
          <a:ln w="15240">
            <a:solidFill>
              <a:srgbClr val="B9A1D8"/>
            </a:solidFill>
            <a:prstDash val="solid"/>
          </a:ln>
        </p:spPr>
      </p:sp>
      <p:sp>
        <p:nvSpPr>
          <p:cNvPr id="101" name="Text 44">
            <a:extLst>
              <a:ext uri="{FF2B5EF4-FFF2-40B4-BE49-F238E27FC236}">
                <a16:creationId xmlns:a16="http://schemas.microsoft.com/office/drawing/2014/main" id="{316EF151-85F4-53EC-973B-72FB28ADD2FB}"/>
              </a:ext>
            </a:extLst>
          </p:cNvPr>
          <p:cNvSpPr/>
          <p:nvPr/>
        </p:nvSpPr>
        <p:spPr>
          <a:xfrm>
            <a:off x="713427" y="5303520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Dataset Split</a:t>
            </a:r>
            <a:endParaRPr lang="en-US" sz="1200" dirty="0"/>
          </a:p>
        </p:txBody>
      </p:sp>
      <p:sp>
        <p:nvSpPr>
          <p:cNvPr id="102" name="Text 45">
            <a:extLst>
              <a:ext uri="{FF2B5EF4-FFF2-40B4-BE49-F238E27FC236}">
                <a16:creationId xmlns:a16="http://schemas.microsoft.com/office/drawing/2014/main" id="{3721C12F-ECB0-F288-8FF3-D776BD83C2C7}"/>
              </a:ext>
            </a:extLst>
          </p:cNvPr>
          <p:cNvSpPr/>
          <p:nvPr/>
        </p:nvSpPr>
        <p:spPr>
          <a:xfrm>
            <a:off x="819753" y="5504688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70%  |  Validation 15%  |  Test 15%</a:t>
            </a:r>
            <a:endParaRPr lang="en-US" sz="950" dirty="0"/>
          </a:p>
        </p:txBody>
      </p:sp>
      <p:sp>
        <p:nvSpPr>
          <p:cNvPr id="103" name="Shape 46">
            <a:extLst>
              <a:ext uri="{FF2B5EF4-FFF2-40B4-BE49-F238E27FC236}">
                <a16:creationId xmlns:a16="http://schemas.microsoft.com/office/drawing/2014/main" id="{EBDECCE4-4522-343C-CCEA-B70E476C5924}"/>
              </a:ext>
            </a:extLst>
          </p:cNvPr>
          <p:cNvSpPr/>
          <p:nvPr/>
        </p:nvSpPr>
        <p:spPr>
          <a:xfrm>
            <a:off x="2137870" y="5728716"/>
            <a:ext cx="0" cy="128016"/>
          </a:xfrm>
          <a:prstGeom prst="line">
            <a:avLst/>
          </a:prstGeom>
          <a:noFill/>
          <a:ln w="1778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104" name="Shape 47">
            <a:extLst>
              <a:ext uri="{FF2B5EF4-FFF2-40B4-BE49-F238E27FC236}">
                <a16:creationId xmlns:a16="http://schemas.microsoft.com/office/drawing/2014/main" id="{4A78C6E9-9DCD-3FB0-1D2D-F7E21D81A107}"/>
              </a:ext>
            </a:extLst>
          </p:cNvPr>
          <p:cNvSpPr/>
          <p:nvPr/>
        </p:nvSpPr>
        <p:spPr>
          <a:xfrm>
            <a:off x="348392" y="5870448"/>
            <a:ext cx="3257536" cy="475488"/>
          </a:xfrm>
          <a:prstGeom prst="roundRect">
            <a:avLst>
              <a:gd name="adj" fmla="val 15385"/>
            </a:avLst>
          </a:prstGeom>
          <a:solidFill>
            <a:srgbClr val="FFF1DB"/>
          </a:solidFill>
          <a:ln w="15240">
            <a:solidFill>
              <a:srgbClr val="E6C184"/>
            </a:solidFill>
            <a:prstDash val="solid"/>
          </a:ln>
        </p:spPr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C2496A23-FC58-1A37-430E-686D5094C237}"/>
              </a:ext>
            </a:extLst>
          </p:cNvPr>
          <p:cNvSpPr/>
          <p:nvPr/>
        </p:nvSpPr>
        <p:spPr>
          <a:xfrm>
            <a:off x="819753" y="5934456"/>
            <a:ext cx="26991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Dataset</a:t>
            </a:r>
            <a:endParaRPr lang="en-US" sz="1200" dirty="0"/>
          </a:p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F78533D4-588B-CC6F-A48B-9918FD0FF83B}"/>
              </a:ext>
            </a:extLst>
          </p:cNvPr>
          <p:cNvSpPr/>
          <p:nvPr/>
        </p:nvSpPr>
        <p:spPr>
          <a:xfrm>
            <a:off x="819753" y="6135624"/>
            <a:ext cx="2699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model training</a:t>
            </a:r>
            <a:endParaRPr lang="en-US" sz="950" dirty="0"/>
          </a:p>
        </p:txBody>
      </p:sp>
      <p:sp>
        <p:nvSpPr>
          <p:cNvPr id="113" name="Shape 5">
            <a:extLst>
              <a:ext uri="{FF2B5EF4-FFF2-40B4-BE49-F238E27FC236}">
                <a16:creationId xmlns:a16="http://schemas.microsoft.com/office/drawing/2014/main" id="{C8497E3E-A0E3-FDB9-4BD3-82053C6EDF89}"/>
              </a:ext>
            </a:extLst>
          </p:cNvPr>
          <p:cNvSpPr/>
          <p:nvPr/>
        </p:nvSpPr>
        <p:spPr>
          <a:xfrm>
            <a:off x="7888827" y="2336292"/>
            <a:ext cx="3794760" cy="35013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Text 6">
            <a:extLst>
              <a:ext uri="{FF2B5EF4-FFF2-40B4-BE49-F238E27FC236}">
                <a16:creationId xmlns:a16="http://schemas.microsoft.com/office/drawing/2014/main" id="{41A3A36B-E27B-B961-0816-2EB8D66D718E}"/>
              </a:ext>
            </a:extLst>
          </p:cNvPr>
          <p:cNvSpPr/>
          <p:nvPr/>
        </p:nvSpPr>
        <p:spPr>
          <a:xfrm>
            <a:off x="8092440" y="284314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Preprocessing</a:t>
            </a:r>
            <a:endParaRPr lang="en-US" sz="1800" dirty="0"/>
          </a:p>
        </p:txBody>
      </p:sp>
      <p:sp>
        <p:nvSpPr>
          <p:cNvPr id="115" name="Text 7">
            <a:extLst>
              <a:ext uri="{FF2B5EF4-FFF2-40B4-BE49-F238E27FC236}">
                <a16:creationId xmlns:a16="http://schemas.microsoft.com/office/drawing/2014/main" id="{65727B05-D965-5DD9-3B2C-284090F45FE5}"/>
              </a:ext>
            </a:extLst>
          </p:cNvPr>
          <p:cNvSpPr/>
          <p:nvPr/>
        </p:nvSpPr>
        <p:spPr>
          <a:xfrm>
            <a:off x="8092440" y="3373924"/>
            <a:ext cx="3474720" cy="20999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Resize images and masks to 224 × 224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Normalize input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Train-time augmentation: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flipping, vertical flipping, random rotation, scaling, and brightness–contrast adjustment.</a:t>
            </a: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Convert images and masks to tensors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 11">
            <a:extLst>
              <a:ext uri="{FF2B5EF4-FFF2-40B4-BE49-F238E27FC236}">
                <a16:creationId xmlns:a16="http://schemas.microsoft.com/office/drawing/2014/main" id="{C7F02282-70A0-E68C-B239-7FFBCD7ACCCA}"/>
              </a:ext>
            </a:extLst>
          </p:cNvPr>
          <p:cNvSpPr/>
          <p:nvPr/>
        </p:nvSpPr>
        <p:spPr>
          <a:xfrm>
            <a:off x="7360920" y="5246103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17" name="Text 12">
            <a:extLst>
              <a:ext uri="{FF2B5EF4-FFF2-40B4-BE49-F238E27FC236}">
                <a16:creationId xmlns:a16="http://schemas.microsoft.com/office/drawing/2014/main" id="{06FA3358-15A7-5B08-39AB-8A4EAC56352F}"/>
              </a:ext>
            </a:extLst>
          </p:cNvPr>
          <p:cNvSpPr/>
          <p:nvPr/>
        </p:nvSpPr>
        <p:spPr>
          <a:xfrm>
            <a:off x="7360920" y="5502773"/>
            <a:ext cx="3931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endParaRPr lang="en-US" sz="1200" dirty="0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1E065FF9-F4D6-29D5-61C1-F305C9D24AC9}"/>
              </a:ext>
            </a:extLst>
          </p:cNvPr>
          <p:cNvSpPr/>
          <p:nvPr/>
        </p:nvSpPr>
        <p:spPr>
          <a:xfrm>
            <a:off x="4093941" y="594998"/>
            <a:ext cx="3457302" cy="49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8ACB9E8-E4CF-DB58-2AB6-9B7732C28268}"/>
              </a:ext>
            </a:extLst>
          </p:cNvPr>
          <p:cNvSpPr txBox="1"/>
          <p:nvPr/>
        </p:nvSpPr>
        <p:spPr>
          <a:xfrm>
            <a:off x="4333941" y="759998"/>
            <a:ext cx="2977302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0B7A70"/>
                </a:solidFill>
                <a:latin typeface="Aptos"/>
              </a:rPr>
              <a:t>HAM10000 Class Distribution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DD58990-2C76-76E5-AEB5-2F6E0D7ABEBF}"/>
              </a:ext>
            </a:extLst>
          </p:cNvPr>
          <p:cNvSpPr txBox="1"/>
          <p:nvPr/>
        </p:nvSpPr>
        <p:spPr>
          <a:xfrm>
            <a:off x="4333941" y="1054998"/>
            <a:ext cx="2977302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">
                <a:solidFill>
                  <a:srgbClr val="4A5A6A"/>
                </a:solidFill>
                <a:latin typeface="Aptos"/>
              </a:rPr>
              <a:t>10,015 dermoscopic images • 7 lesion classes</a:t>
            </a:r>
          </a:p>
        </p:txBody>
      </p:sp>
      <p:graphicFrame>
        <p:nvGraphicFramePr>
          <p:cNvPr id="121" name="Table 120">
            <a:extLst>
              <a:ext uri="{FF2B5EF4-FFF2-40B4-BE49-F238E27FC236}">
                <a16:creationId xmlns:a16="http://schemas.microsoft.com/office/drawing/2014/main" id="{2C216875-DF63-3F02-9D49-9E3BA7C6BDF8}"/>
              </a:ext>
            </a:extLst>
          </p:cNvPr>
          <p:cNvGraphicFramePr>
            <a:graphicFrameLocks noGrp="1"/>
          </p:cNvGraphicFramePr>
          <p:nvPr/>
        </p:nvGraphicFramePr>
        <p:xfrm>
          <a:off x="4343941" y="1324998"/>
          <a:ext cx="2957302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6202C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 marL="65000" marR="65000" marT="12000" marB="12000" anchor="ctr"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6202C"/>
                          </a:solidFill>
                          <a:latin typeface="Aptos"/>
                        </a:rPr>
                        <a:t>Samples</a:t>
                      </a:r>
                    </a:p>
                  </a:txBody>
                  <a:tcPr marL="65000" marR="65000" marT="12000" marB="12000" anchor="ctr">
                    <a:solidFill>
                      <a:srgbClr val="E8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AKIEC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327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BCC</a:t>
                      </a:r>
                    </a:p>
                  </a:txBody>
                  <a:tcPr marL="65000" marR="65000" marT="12000" marB="1200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514</a:t>
                      </a:r>
                    </a:p>
                  </a:txBody>
                  <a:tcPr marL="65000" marR="65000" marT="12000" marB="1200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BKL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1,099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DF</a:t>
                      </a:r>
                    </a:p>
                  </a:txBody>
                  <a:tcPr marL="65000" marR="65000" marT="12000" marB="1200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115</a:t>
                      </a:r>
                    </a:p>
                  </a:txBody>
                  <a:tcPr marL="65000" marR="65000" marT="12000" marB="1200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MEL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1,113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NV</a:t>
                      </a:r>
                    </a:p>
                  </a:txBody>
                  <a:tcPr marL="65000" marR="65000" marT="12000" marB="12000" anchor="ctr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6,705</a:t>
                      </a:r>
                    </a:p>
                  </a:txBody>
                  <a:tcPr marL="65000" marR="65000" marT="12000" marB="12000" anchor="ctr"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VASC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6202C"/>
                          </a:solidFill>
                          <a:latin typeface="Aptos"/>
                        </a:rPr>
                        <a:t>142</a:t>
                      </a:r>
                    </a:p>
                  </a:txBody>
                  <a:tcPr marL="65000" marR="6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784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6202C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65000" marR="65000" marT="12000" marB="12000" anchor="ctr">
                    <a:solidFill>
                      <a:srgbClr val="EC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6202C"/>
                          </a:solidFill>
                          <a:latin typeface="Aptos"/>
                        </a:rPr>
                        <a:t>10,015</a:t>
                      </a:r>
                    </a:p>
                  </a:txBody>
                  <a:tcPr marL="65000" marR="65000" marT="12000" marB="12000" anchor="ctr">
                    <a:solidFill>
                      <a:srgbClr val="EC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2" name="TextBox 121">
            <a:extLst>
              <a:ext uri="{FF2B5EF4-FFF2-40B4-BE49-F238E27FC236}">
                <a16:creationId xmlns:a16="http://schemas.microsoft.com/office/drawing/2014/main" id="{7BD4A9B7-4038-1BC2-78F0-46910450A358}"/>
              </a:ext>
            </a:extLst>
          </p:cNvPr>
          <p:cNvSpPr txBox="1"/>
          <p:nvPr/>
        </p:nvSpPr>
        <p:spPr>
          <a:xfrm>
            <a:off x="4343941" y="3974998"/>
            <a:ext cx="2957302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9" b="1">
                <a:solidFill>
                  <a:srgbClr val="16202C"/>
                </a:solidFill>
                <a:latin typeface="Aptos"/>
              </a:rPr>
              <a:t>Stratified split: </a:t>
            </a:r>
            <a:r>
              <a:rPr sz="969">
                <a:solidFill>
                  <a:srgbClr val="4A5A6A"/>
                </a:solidFill>
                <a:latin typeface="Aptos"/>
              </a:rPr>
              <a:t>70% train | 15% validation | 15% test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F62F7836-3023-1798-9662-7646D133EA97}"/>
              </a:ext>
            </a:extLst>
          </p:cNvPr>
          <p:cNvSpPr/>
          <p:nvPr/>
        </p:nvSpPr>
        <p:spPr>
          <a:xfrm>
            <a:off x="4343941" y="4374998"/>
            <a:ext cx="2957302" cy="8700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1C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F20A68C-FA9E-FFB6-1093-D273F0470B7D}"/>
              </a:ext>
            </a:extLst>
          </p:cNvPr>
          <p:cNvSpPr txBox="1"/>
          <p:nvPr/>
        </p:nvSpPr>
        <p:spPr>
          <a:xfrm>
            <a:off x="4483941" y="4444998"/>
            <a:ext cx="2677302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 b="1">
                <a:solidFill>
                  <a:srgbClr val="D97800"/>
                </a:solidFill>
                <a:latin typeface="Aptos"/>
              </a:rPr>
              <a:t>Class imbalance: </a:t>
            </a:r>
            <a:r>
              <a:rPr sz="930">
                <a:solidFill>
                  <a:srgbClr val="16202C"/>
                </a:solidFill>
                <a:latin typeface="Aptos"/>
              </a:rPr>
              <a:t>NV = 6,705 samples, while DF = 115 and VASC = 142.</a:t>
            </a:r>
          </a:p>
          <a:p>
            <a:pPr>
              <a:spcBef>
                <a:spcPts val="100"/>
              </a:spcBef>
            </a:pPr>
            <a:r>
              <a:rPr sz="930" b="1">
                <a:solidFill>
                  <a:srgbClr val="0B7A70"/>
                </a:solidFill>
                <a:latin typeface="Aptos"/>
              </a:rPr>
              <a:t>Training handling: </a:t>
            </a:r>
            <a:r>
              <a:rPr sz="930">
                <a:solidFill>
                  <a:srgbClr val="16202C"/>
                </a:solidFill>
                <a:latin typeface="Aptos"/>
              </a:rPr>
              <a:t>Weighted Random Sampler + Weighted Cross-Entropy.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Multi-Task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Shared Swin Transformer features for two related tasks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3451" y="2011680"/>
            <a:ext cx="477082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26101" y="1897380"/>
            <a:ext cx="4345527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Swin Transformer → hierarchical shared features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Classification branch → 7-class lesion prediction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U-Net decoder → pixel-level lesion mask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Multi-task loss = 0.5 × classification + 0.5 × segmentation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One forward pass produces both outputs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38753" y="49834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Key idea: shared representations reduce redundant feature extraction.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B913E0-FCBD-9E71-A236-1315BA524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668" r="-189" b="22726"/>
          <a:stretch>
            <a:fillRect/>
          </a:stretch>
        </p:blipFill>
        <p:spPr>
          <a:xfrm>
            <a:off x="274320" y="1783081"/>
            <a:ext cx="5637382" cy="28952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Training configuration and evaluation metrics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92240" y="3611880"/>
            <a:ext cx="47091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C0F522-4876-F1EA-916C-51F0933AA37C}"/>
              </a:ext>
            </a:extLst>
          </p:cNvPr>
          <p:cNvSpPr/>
          <p:nvPr/>
        </p:nvSpPr>
        <p:spPr>
          <a:xfrm>
            <a:off x="387096" y="1490472"/>
            <a:ext cx="4892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B1F0FC5-500E-1740-225B-EE3CA27E4B7A}"/>
              </a:ext>
            </a:extLst>
          </p:cNvPr>
          <p:cNvSpPr/>
          <p:nvPr/>
        </p:nvSpPr>
        <p:spPr>
          <a:xfrm>
            <a:off x="606552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F73"/>
                </a:solidFill>
              </a:rPr>
              <a:t>Training setup</a:t>
            </a:r>
            <a:endParaRPr lang="en-US" sz="18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915DA2EC-BE20-BC26-DBA6-2227A0D5C74F}"/>
              </a:ext>
            </a:extLst>
          </p:cNvPr>
          <p:cNvSpPr/>
          <p:nvPr/>
        </p:nvSpPr>
        <p:spPr>
          <a:xfrm>
            <a:off x="588264" y="2075688"/>
            <a:ext cx="4297680" cy="384048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0465ECB-8F9B-42A6-9DB1-96F907479BAA}"/>
              </a:ext>
            </a:extLst>
          </p:cNvPr>
          <p:cNvSpPr/>
          <p:nvPr/>
        </p:nvSpPr>
        <p:spPr>
          <a:xfrm>
            <a:off x="606552" y="210312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Input size</a:t>
            </a:r>
            <a:endParaRPr lang="en-US" sz="113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013E6E7-1FF1-A948-5F38-79652260B768}"/>
              </a:ext>
            </a:extLst>
          </p:cNvPr>
          <p:cNvSpPr/>
          <p:nvPr/>
        </p:nvSpPr>
        <p:spPr>
          <a:xfrm>
            <a:off x="2279904" y="210312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224 × 224</a:t>
            </a:r>
            <a:endParaRPr lang="en-US" sz="113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53A38789-C591-6AA1-0858-31C7B5B7C238}"/>
              </a:ext>
            </a:extLst>
          </p:cNvPr>
          <p:cNvSpPr/>
          <p:nvPr/>
        </p:nvSpPr>
        <p:spPr>
          <a:xfrm>
            <a:off x="588264" y="2459736"/>
            <a:ext cx="4297680" cy="384048"/>
          </a:xfrm>
          <a:prstGeom prst="rect">
            <a:avLst/>
          </a:prstGeom>
          <a:solidFill>
            <a:srgbClr val="FAFBFC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AB471CF-77A9-9547-518E-305BE2938A3B}"/>
              </a:ext>
            </a:extLst>
          </p:cNvPr>
          <p:cNvSpPr/>
          <p:nvPr/>
        </p:nvSpPr>
        <p:spPr>
          <a:xfrm>
            <a:off x="606552" y="248716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Batch size</a:t>
            </a:r>
            <a:endParaRPr lang="en-US" sz="113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6F9F581-5DEF-39D8-A2E8-FE7DEE3743D7}"/>
              </a:ext>
            </a:extLst>
          </p:cNvPr>
          <p:cNvSpPr/>
          <p:nvPr/>
        </p:nvSpPr>
        <p:spPr>
          <a:xfrm>
            <a:off x="2279904" y="248716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8</a:t>
            </a:r>
            <a:endParaRPr lang="en-US" sz="113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ED09C9A0-C03A-CF3E-D0B7-D8205874DFBD}"/>
              </a:ext>
            </a:extLst>
          </p:cNvPr>
          <p:cNvSpPr/>
          <p:nvPr/>
        </p:nvSpPr>
        <p:spPr>
          <a:xfrm>
            <a:off x="588264" y="2843784"/>
            <a:ext cx="4297680" cy="384048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9643F73-5F9F-B2DA-043A-8157BCB3A952}"/>
              </a:ext>
            </a:extLst>
          </p:cNvPr>
          <p:cNvSpPr/>
          <p:nvPr/>
        </p:nvSpPr>
        <p:spPr>
          <a:xfrm>
            <a:off x="606552" y="287121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Epochs</a:t>
            </a:r>
            <a:endParaRPr lang="en-US" sz="113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AE15ECF-EA5B-F4FF-E4CB-DBBCFE3E9563}"/>
              </a:ext>
            </a:extLst>
          </p:cNvPr>
          <p:cNvSpPr/>
          <p:nvPr/>
        </p:nvSpPr>
        <p:spPr>
          <a:xfrm>
            <a:off x="2279904" y="287121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10</a:t>
            </a:r>
            <a:endParaRPr lang="en-US" sz="113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EF480490-0650-EB89-446D-224579194407}"/>
              </a:ext>
            </a:extLst>
          </p:cNvPr>
          <p:cNvSpPr/>
          <p:nvPr/>
        </p:nvSpPr>
        <p:spPr>
          <a:xfrm>
            <a:off x="588264" y="3227832"/>
            <a:ext cx="4297680" cy="384048"/>
          </a:xfrm>
          <a:prstGeom prst="rect">
            <a:avLst/>
          </a:prstGeom>
          <a:solidFill>
            <a:srgbClr val="FAFBFC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5E8FD94-3408-C7CE-6804-9FFA45AE01D1}"/>
              </a:ext>
            </a:extLst>
          </p:cNvPr>
          <p:cNvSpPr/>
          <p:nvPr/>
        </p:nvSpPr>
        <p:spPr>
          <a:xfrm>
            <a:off x="606552" y="325526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Optimizer</a:t>
            </a:r>
            <a:endParaRPr lang="en-US" sz="113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9E03933D-5D18-6821-7C22-FC134DA7B2F9}"/>
              </a:ext>
            </a:extLst>
          </p:cNvPr>
          <p:cNvSpPr/>
          <p:nvPr/>
        </p:nvSpPr>
        <p:spPr>
          <a:xfrm>
            <a:off x="2279904" y="325526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AdamW</a:t>
            </a:r>
            <a:endParaRPr lang="en-US" sz="113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406EFEBD-FBE6-EC63-58F1-85A523FA87FA}"/>
              </a:ext>
            </a:extLst>
          </p:cNvPr>
          <p:cNvSpPr/>
          <p:nvPr/>
        </p:nvSpPr>
        <p:spPr>
          <a:xfrm>
            <a:off x="588264" y="3611880"/>
            <a:ext cx="4297680" cy="384048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C32087F-D5E7-F71B-C41B-EA0929B7A4AB}"/>
              </a:ext>
            </a:extLst>
          </p:cNvPr>
          <p:cNvSpPr/>
          <p:nvPr/>
        </p:nvSpPr>
        <p:spPr>
          <a:xfrm>
            <a:off x="606552" y="363931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Learning rate</a:t>
            </a:r>
            <a:endParaRPr lang="en-US" sz="113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8624B37D-8614-0A06-9437-E2CF0D2F8AB0}"/>
              </a:ext>
            </a:extLst>
          </p:cNvPr>
          <p:cNvSpPr/>
          <p:nvPr/>
        </p:nvSpPr>
        <p:spPr>
          <a:xfrm>
            <a:off x="2279904" y="363931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1 × 10⁻⁴</a:t>
            </a:r>
            <a:endParaRPr lang="en-US" sz="113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40E26227-5470-BF69-2231-8398DA6F9AB4}"/>
              </a:ext>
            </a:extLst>
          </p:cNvPr>
          <p:cNvSpPr/>
          <p:nvPr/>
        </p:nvSpPr>
        <p:spPr>
          <a:xfrm>
            <a:off x="588264" y="3995928"/>
            <a:ext cx="4297680" cy="384048"/>
          </a:xfrm>
          <a:prstGeom prst="rect">
            <a:avLst/>
          </a:prstGeom>
          <a:solidFill>
            <a:srgbClr val="FAFBFC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D3F15D15-9078-A4E8-7A7B-297A3E6892EE}"/>
              </a:ext>
            </a:extLst>
          </p:cNvPr>
          <p:cNvSpPr/>
          <p:nvPr/>
        </p:nvSpPr>
        <p:spPr>
          <a:xfrm>
            <a:off x="606552" y="402336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Classification loss</a:t>
            </a:r>
            <a:endParaRPr lang="en-US" sz="113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7580EE69-D319-E05C-411F-0F1FB94B2D3A}"/>
              </a:ext>
            </a:extLst>
          </p:cNvPr>
          <p:cNvSpPr/>
          <p:nvPr/>
        </p:nvSpPr>
        <p:spPr>
          <a:xfrm>
            <a:off x="2279904" y="40233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Weighted Cross-Entropy</a:t>
            </a:r>
            <a:endParaRPr lang="en-US" sz="113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CD2602E8-8BF1-E223-B8A7-87FD42934E37}"/>
              </a:ext>
            </a:extLst>
          </p:cNvPr>
          <p:cNvSpPr/>
          <p:nvPr/>
        </p:nvSpPr>
        <p:spPr>
          <a:xfrm>
            <a:off x="588264" y="4379976"/>
            <a:ext cx="4297680" cy="384048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211E8BCA-F732-7CE0-BB37-7F5BA6C7728D}"/>
              </a:ext>
            </a:extLst>
          </p:cNvPr>
          <p:cNvSpPr/>
          <p:nvPr/>
        </p:nvSpPr>
        <p:spPr>
          <a:xfrm>
            <a:off x="606552" y="440740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Segmentation loss</a:t>
            </a:r>
            <a:endParaRPr lang="en-US" sz="113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3491991B-2972-E903-D221-DE7BB16394FF}"/>
              </a:ext>
            </a:extLst>
          </p:cNvPr>
          <p:cNvSpPr/>
          <p:nvPr/>
        </p:nvSpPr>
        <p:spPr>
          <a:xfrm>
            <a:off x="2279904" y="44074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BCE + Dice</a:t>
            </a:r>
            <a:endParaRPr lang="en-US" sz="113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942999D1-BDC5-FC92-A80E-0BD55A585BB1}"/>
              </a:ext>
            </a:extLst>
          </p:cNvPr>
          <p:cNvSpPr/>
          <p:nvPr/>
        </p:nvSpPr>
        <p:spPr>
          <a:xfrm>
            <a:off x="588264" y="4764024"/>
            <a:ext cx="4297680" cy="384048"/>
          </a:xfrm>
          <a:prstGeom prst="rect">
            <a:avLst/>
          </a:prstGeom>
          <a:solidFill>
            <a:srgbClr val="FAFBFC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4514C307-0E5A-20C3-5B69-815FFECC844F}"/>
              </a:ext>
            </a:extLst>
          </p:cNvPr>
          <p:cNvSpPr/>
          <p:nvPr/>
        </p:nvSpPr>
        <p:spPr>
          <a:xfrm>
            <a:off x="606552" y="479145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Total loss</a:t>
            </a:r>
            <a:endParaRPr lang="en-US" sz="113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CF0F3FBA-E333-FB65-BCAF-9A82782D642E}"/>
              </a:ext>
            </a:extLst>
          </p:cNvPr>
          <p:cNvSpPr/>
          <p:nvPr/>
        </p:nvSpPr>
        <p:spPr>
          <a:xfrm>
            <a:off x="2279904" y="479145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72033"/>
                </a:solidFill>
              </a:rPr>
              <a:t>0.5 Lcls + 0.5 Lseg</a:t>
            </a:r>
            <a:endParaRPr lang="en-US" sz="113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046C71A1-A5D8-AA26-3D97-D03A9E82442C}"/>
              </a:ext>
            </a:extLst>
          </p:cNvPr>
          <p:cNvSpPr/>
          <p:nvPr/>
        </p:nvSpPr>
        <p:spPr>
          <a:xfrm>
            <a:off x="588264" y="5148072"/>
            <a:ext cx="4297680" cy="384048"/>
          </a:xfrm>
          <a:prstGeom prst="rect">
            <a:avLst/>
          </a:prstGeom>
          <a:solidFill>
            <a:srgbClr val="F4F7F9"/>
          </a:solidFill>
          <a:ln w="7620">
            <a:solidFill>
              <a:srgbClr val="E2E8EE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3C497F69-59AC-AD4A-C9BD-2878381E0559}"/>
              </a:ext>
            </a:extLst>
          </p:cNvPr>
          <p:cNvSpPr/>
          <p:nvPr/>
        </p:nvSpPr>
        <p:spPr>
          <a:xfrm>
            <a:off x="606552" y="517550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Sampler</a:t>
            </a:r>
            <a:endParaRPr lang="en-US" sz="113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E997400A-7DCD-D0F2-AE19-E5B737E4216B}"/>
              </a:ext>
            </a:extLst>
          </p:cNvPr>
          <p:cNvSpPr/>
          <p:nvPr/>
        </p:nvSpPr>
        <p:spPr>
          <a:xfrm>
            <a:off x="2279904" y="517550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72033"/>
                </a:solidFill>
              </a:rPr>
              <a:t>Weighted Random Sampler</a:t>
            </a:r>
            <a:endParaRPr lang="en-US" sz="113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1DC61727-B907-A4EF-1D10-50BB3BE8B764}"/>
              </a:ext>
            </a:extLst>
          </p:cNvPr>
          <p:cNvSpPr/>
          <p:nvPr/>
        </p:nvSpPr>
        <p:spPr>
          <a:xfrm>
            <a:off x="5480304" y="1490472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EEF5FF"/>
          </a:solidFill>
          <a:ln w="12700">
            <a:solidFill>
              <a:srgbClr val="C8DAF5"/>
            </a:solidFill>
            <a:prstDash val="solid"/>
          </a:ln>
        </p:spPr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BC9C4287-BAD5-AE55-123F-437E14800CA3}"/>
              </a:ext>
            </a:extLst>
          </p:cNvPr>
          <p:cNvSpPr/>
          <p:nvPr/>
        </p:nvSpPr>
        <p:spPr>
          <a:xfrm>
            <a:off x="5727192" y="1700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E6"/>
                </a:solidFill>
              </a:rPr>
              <a:t>Baselines</a:t>
            </a:r>
            <a:endParaRPr lang="en-US" sz="180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DB411550-403B-0A04-005C-DD882FB49047}"/>
              </a:ext>
            </a:extLst>
          </p:cNvPr>
          <p:cNvSpPr/>
          <p:nvPr/>
        </p:nvSpPr>
        <p:spPr>
          <a:xfrm>
            <a:off x="5754624" y="2203704"/>
            <a:ext cx="2103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81610" indent="-18161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ResNet18 + U-Net</a:t>
            </a:r>
            <a:endParaRPr lang="en-US" sz="1400" dirty="0"/>
          </a:p>
          <a:p>
            <a:pPr marL="181610" indent="-18161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EfficientNet-B0 + U-Net</a:t>
            </a:r>
            <a:endParaRPr lang="en-US" sz="14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7149DC5C-DBAD-834F-E8F9-E44FB64FC41A}"/>
              </a:ext>
            </a:extLst>
          </p:cNvPr>
          <p:cNvSpPr/>
          <p:nvPr/>
        </p:nvSpPr>
        <p:spPr>
          <a:xfrm>
            <a:off x="5736336" y="2834640"/>
            <a:ext cx="21762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A6777"/>
                </a:solidFill>
              </a:rPr>
              <a:t>Same dataset split, preprocessing, training configuration, and evaluation protocol for fair comparison.</a:t>
            </a:r>
            <a:endParaRPr lang="en-US" sz="96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D491EB87-E6D7-0315-3048-B8CE46CFD01B}"/>
              </a:ext>
            </a:extLst>
          </p:cNvPr>
          <p:cNvSpPr/>
          <p:nvPr/>
        </p:nvSpPr>
        <p:spPr>
          <a:xfrm>
            <a:off x="8424672" y="1490472"/>
            <a:ext cx="3246120" cy="1920240"/>
          </a:xfrm>
          <a:prstGeom prst="roundRect">
            <a:avLst>
              <a:gd name="adj" fmla="val 5714"/>
            </a:avLst>
          </a:prstGeom>
          <a:solidFill>
            <a:srgbClr val="ECFBF8"/>
          </a:solidFill>
          <a:ln w="12700">
            <a:solidFill>
              <a:srgbClr val="BFE8DF"/>
            </a:solidFill>
            <a:prstDash val="solid"/>
          </a:ln>
        </p:spPr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6EFA59C3-96CA-237C-A6AF-47E9279ED846}"/>
              </a:ext>
            </a:extLst>
          </p:cNvPr>
          <p:cNvSpPr/>
          <p:nvPr/>
        </p:nvSpPr>
        <p:spPr>
          <a:xfrm>
            <a:off x="8680704" y="1700784"/>
            <a:ext cx="229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F73"/>
                </a:solidFill>
              </a:rPr>
              <a:t>Evaluation metrics</a:t>
            </a:r>
            <a:endParaRPr lang="en-US" sz="18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B08E74C2-5BC1-268A-3424-B147D24B3840}"/>
              </a:ext>
            </a:extLst>
          </p:cNvPr>
          <p:cNvSpPr/>
          <p:nvPr/>
        </p:nvSpPr>
        <p:spPr>
          <a:xfrm>
            <a:off x="8680704" y="2203704"/>
            <a:ext cx="257860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10" b="1" dirty="0">
                <a:solidFill>
                  <a:srgbClr val="172033"/>
                </a:solidFill>
              </a:rPr>
              <a:t>Classification: </a:t>
            </a:r>
            <a:r>
              <a:rPr lang="en-US" sz="1210" dirty="0">
                <a:solidFill>
                  <a:srgbClr val="172033"/>
                </a:solidFill>
              </a:rPr>
              <a:t>Accuracy, Macro-F1, ROC-AUC</a:t>
            </a:r>
            <a:endParaRPr lang="en-US" sz="1210" dirty="0"/>
          </a:p>
          <a:p>
            <a:pPr marL="0" indent="0">
              <a:buNone/>
            </a:pPr>
            <a:r>
              <a:rPr lang="en-US" sz="1210" b="1" dirty="0">
                <a:solidFill>
                  <a:srgbClr val="172033"/>
                </a:solidFill>
              </a:rPr>
              <a:t>Segmentation: </a:t>
            </a:r>
            <a:r>
              <a:rPr lang="en-US" sz="1210" dirty="0">
                <a:solidFill>
                  <a:srgbClr val="172033"/>
                </a:solidFill>
              </a:rPr>
              <a:t>Dice, IoU</a:t>
            </a:r>
            <a:endParaRPr lang="en-US" sz="1210" dirty="0"/>
          </a:p>
          <a:p>
            <a:pPr marL="0" indent="0">
              <a:buNone/>
            </a:pPr>
            <a:r>
              <a:rPr lang="en-US" sz="1210" b="1" dirty="0">
                <a:solidFill>
                  <a:srgbClr val="172033"/>
                </a:solidFill>
              </a:rPr>
              <a:t>Efficiency: </a:t>
            </a:r>
            <a:r>
              <a:rPr lang="en-US" sz="1210" dirty="0">
                <a:solidFill>
                  <a:srgbClr val="172033"/>
                </a:solidFill>
              </a:rPr>
              <a:t>FPS, latency, parameters, model size</a:t>
            </a:r>
            <a:endParaRPr lang="en-US" sz="121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6438404A-135E-7126-D98D-46DB2957FC0B}"/>
              </a:ext>
            </a:extLst>
          </p:cNvPr>
          <p:cNvSpPr/>
          <p:nvPr/>
        </p:nvSpPr>
        <p:spPr>
          <a:xfrm>
            <a:off x="5480304" y="3639312"/>
            <a:ext cx="619048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64ABEC43-308A-680B-13CA-7177F2BD3BFD}"/>
              </a:ext>
            </a:extLst>
          </p:cNvPr>
          <p:cNvSpPr/>
          <p:nvPr/>
        </p:nvSpPr>
        <p:spPr>
          <a:xfrm>
            <a:off x="5727192" y="3867912"/>
            <a:ext cx="2396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3FE4"/>
                </a:solidFill>
              </a:rPr>
              <a:t>Inference benchmark</a:t>
            </a:r>
            <a:endParaRPr lang="en-US" sz="1800" dirty="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6EB1AAE2-20AB-3BF4-B21F-C5414D40B17B}"/>
              </a:ext>
            </a:extLst>
          </p:cNvPr>
          <p:cNvSpPr/>
          <p:nvPr/>
        </p:nvSpPr>
        <p:spPr>
          <a:xfrm>
            <a:off x="5745480" y="4279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A6777"/>
                </a:solidFill>
              </a:rPr>
              <a:t>Hardware</a:t>
            </a:r>
            <a:endParaRPr lang="en-US" sz="1080" dirty="0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AC6CBBEE-D029-1451-E5CA-5E08642EFD60}"/>
              </a:ext>
            </a:extLst>
          </p:cNvPr>
          <p:cNvSpPr/>
          <p:nvPr/>
        </p:nvSpPr>
        <p:spPr>
          <a:xfrm>
            <a:off x="6915912" y="427939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</a:rPr>
              <a:t>Apple M4 • 16 GB unified memory • MPS</a:t>
            </a:r>
            <a:endParaRPr lang="en-US" sz="1080" dirty="0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A6BDB851-E3B4-D632-E02F-D6483188D769}"/>
              </a:ext>
            </a:extLst>
          </p:cNvPr>
          <p:cNvSpPr/>
          <p:nvPr/>
        </p:nvSpPr>
        <p:spPr>
          <a:xfrm>
            <a:off x="5745480" y="4599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A6777"/>
                </a:solidFill>
              </a:rPr>
              <a:t>Input / batch</a:t>
            </a:r>
            <a:endParaRPr lang="en-US" sz="1080" dirty="0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B80A50BE-D3F8-E0CB-C306-C0604C690E11}"/>
              </a:ext>
            </a:extLst>
          </p:cNvPr>
          <p:cNvSpPr/>
          <p:nvPr/>
        </p:nvSpPr>
        <p:spPr>
          <a:xfrm>
            <a:off x="6915912" y="45994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</a:rPr>
              <a:t>224 × 224 • batch size 1</a:t>
            </a:r>
            <a:endParaRPr lang="en-US" sz="1080" dirty="0"/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D51638B9-EDBF-C544-6F1A-6FE35CE8BCDF}"/>
              </a:ext>
            </a:extLst>
          </p:cNvPr>
          <p:cNvSpPr/>
          <p:nvPr/>
        </p:nvSpPr>
        <p:spPr>
          <a:xfrm>
            <a:off x="5745480" y="49194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A6777"/>
                </a:solidFill>
              </a:rPr>
              <a:t>Runtime mode</a:t>
            </a:r>
            <a:endParaRPr lang="en-US" sz="1080" dirty="0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8BCF532D-0C80-1ED6-8459-42B971F1B54E}"/>
              </a:ext>
            </a:extLst>
          </p:cNvPr>
          <p:cNvSpPr/>
          <p:nvPr/>
        </p:nvSpPr>
        <p:spPr>
          <a:xfrm>
            <a:off x="6915912" y="491947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</a:rPr>
              <a:t>Evaluation mode • gradients disabled</a:t>
            </a:r>
            <a:endParaRPr lang="en-US" sz="108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CCBDADE6-B68B-4E0B-7A90-2312B1566B13}"/>
              </a:ext>
            </a:extLst>
          </p:cNvPr>
          <p:cNvSpPr/>
          <p:nvPr/>
        </p:nvSpPr>
        <p:spPr>
          <a:xfrm>
            <a:off x="5745480" y="5239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A6777"/>
                </a:solidFill>
              </a:rPr>
              <a:t>Timing</a:t>
            </a:r>
            <a:endParaRPr lang="en-US" sz="1080" dirty="0"/>
          </a:p>
        </p:txBody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ADBD7084-1AD0-7817-9EF6-019C835181B9}"/>
              </a:ext>
            </a:extLst>
          </p:cNvPr>
          <p:cNvSpPr/>
          <p:nvPr/>
        </p:nvSpPr>
        <p:spPr>
          <a:xfrm>
            <a:off x="6915912" y="523951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</a:rPr>
              <a:t>10 warm-up passes + 50 timed iterations</a:t>
            </a:r>
            <a:endParaRPr lang="en-US" sz="1080" dirty="0"/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EE632F79-6B69-8F54-9E1F-890241D014F9}"/>
              </a:ext>
            </a:extLst>
          </p:cNvPr>
          <p:cNvSpPr/>
          <p:nvPr/>
        </p:nvSpPr>
        <p:spPr>
          <a:xfrm>
            <a:off x="5745480" y="55595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5A6777"/>
                </a:solidFill>
              </a:rPr>
              <a:t>Per timed pass</a:t>
            </a:r>
            <a:endParaRPr lang="en-US" sz="1080" dirty="0"/>
          </a:p>
        </p:txBody>
      </p:sp>
      <p:sp>
        <p:nvSpPr>
          <p:cNvPr id="57" name="Text 49">
            <a:extLst>
              <a:ext uri="{FF2B5EF4-FFF2-40B4-BE49-F238E27FC236}">
                <a16:creationId xmlns:a16="http://schemas.microsoft.com/office/drawing/2014/main" id="{923F8B98-D477-2BDB-7279-A97DBF3D9542}"/>
              </a:ext>
            </a:extLst>
          </p:cNvPr>
          <p:cNvSpPr/>
          <p:nvPr/>
        </p:nvSpPr>
        <p:spPr>
          <a:xfrm>
            <a:off x="6915912" y="555955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</a:rPr>
              <a:t>Classification + segmentation together</a:t>
            </a:r>
            <a:endParaRPr lang="en-US" sz="1080" dirty="0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4C36DC5D-1BD5-1C6B-3722-7096CB45B52E}"/>
              </a:ext>
            </a:extLst>
          </p:cNvPr>
          <p:cNvSpPr/>
          <p:nvPr/>
        </p:nvSpPr>
        <p:spPr>
          <a:xfrm>
            <a:off x="5754624" y="57424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F7F73"/>
                </a:solidFill>
              </a:rPr>
              <a:t>This setup supports an interpretable real-time-capable model-level inference claim.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Baselines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Predictive performance across three multi-task models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148595"/>
              </p:ext>
            </p:extLst>
          </p:nvPr>
        </p:nvGraphicFramePr>
        <p:xfrm>
          <a:off x="685800" y="1508760"/>
          <a:ext cx="9601200" cy="201168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Macro-F1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ROC-AUC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Dice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IoU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ResNet18 + U-Net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0.6048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0.5921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0.9326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0.9353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0.8874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EfficientNet-B0 + U-Net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0.5988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0.6613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0.9372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0.9358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0.8874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Proposed Swin + U-Net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0.6585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0.6820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0.9397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0.9398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2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0.8936</a:t>
                      </a:r>
                      <a:endParaRPr lang="en-US" sz="13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" y="4160520"/>
            <a:ext cx="3154680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44074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Proposed model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45902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br>
              <a:rPr lang="en-US" sz="1400" b="1" dirty="0"/>
            </a:br>
            <a:r>
              <a:rPr lang="en-US" sz="1400" b="1" dirty="0"/>
              <a:t>Highest performance across all evaluated metrics</a:t>
            </a:r>
          </a:p>
        </p:txBody>
      </p:sp>
      <p:sp>
        <p:nvSpPr>
          <p:cNvPr id="9" name="Text 6"/>
          <p:cNvSpPr/>
          <p:nvPr/>
        </p:nvSpPr>
        <p:spPr>
          <a:xfrm>
            <a:off x="4754880" y="44074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Shape 8"/>
          <p:cNvSpPr/>
          <p:nvPr/>
        </p:nvSpPr>
        <p:spPr>
          <a:xfrm>
            <a:off x="8183880" y="4160520"/>
            <a:ext cx="3154680" cy="1143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381039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Takeaway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09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dirty="0"/>
              <a:t>Best overall balance of classification and segmentation performance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F4EDA9B-DFD4-8D98-574F-E72917875986}"/>
              </a:ext>
            </a:extLst>
          </p:cNvPr>
          <p:cNvSpPr/>
          <p:nvPr/>
        </p:nvSpPr>
        <p:spPr>
          <a:xfrm>
            <a:off x="384048" y="301752"/>
            <a:ext cx="97594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+mj-lt"/>
              </a:rPr>
              <a:t>Class-wise performance of the proposed Swin Transformer + U-Net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F0553E86-3AC1-A663-E7E8-0E40A8F70EB8}"/>
              </a:ext>
            </a:extLst>
          </p:cNvPr>
          <p:cNvSpPr/>
          <p:nvPr/>
        </p:nvSpPr>
        <p:spPr>
          <a:xfrm>
            <a:off x="402336" y="704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7"/>
                </a:solidFill>
              </a:rPr>
              <a:t>Where the classifier performs well — and where it still struggles</a:t>
            </a:r>
            <a:endParaRPr lang="en-US" sz="105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2E8D34A-2393-07A4-1E94-194375218768}"/>
              </a:ext>
            </a:extLst>
          </p:cNvPr>
          <p:cNvSpPr/>
          <p:nvPr/>
        </p:nvSpPr>
        <p:spPr>
          <a:xfrm>
            <a:off x="5257800" y="1325880"/>
            <a:ext cx="59893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C64E5D6-EAB0-B7B7-7DC2-A2FF7CB51E2B}"/>
              </a:ext>
            </a:extLst>
          </p:cNvPr>
          <p:cNvSpPr/>
          <p:nvPr/>
        </p:nvSpPr>
        <p:spPr>
          <a:xfrm>
            <a:off x="55321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F73"/>
                </a:solidFill>
              </a:rPr>
              <a:t>Key observations</a:t>
            </a:r>
            <a:endParaRPr lang="en-US" sz="18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72ACFD7-5212-44BB-51BC-79CCE2CB6B7E}"/>
              </a:ext>
            </a:extLst>
          </p:cNvPr>
          <p:cNvSpPr/>
          <p:nvPr/>
        </p:nvSpPr>
        <p:spPr>
          <a:xfrm>
            <a:off x="5532120" y="2057400"/>
            <a:ext cx="52578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achieved the highest recognition rate: 0.94. 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BKL and VASC each reached 0.90; BCC reached 0.86. 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 was the most challenging class, with a diagonal value of 0.57. 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confusion: NV → MEL = 0.27, NV → BKL = 0.11, and MEL → BKL = 0.13. 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largest errors occur among MEL, NV, and BKL due to similar pigmentation, texture, and border appearance.</a:t>
            </a: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739076A0-FF5F-E994-5C4B-C41D6D7628FE}"/>
              </a:ext>
            </a:extLst>
          </p:cNvPr>
          <p:cNvSpPr/>
          <p:nvPr/>
        </p:nvSpPr>
        <p:spPr>
          <a:xfrm>
            <a:off x="5945727" y="4471416"/>
            <a:ext cx="4569873" cy="658368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12700">
            <a:solidFill>
              <a:srgbClr val="F2C5C5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2E02568-3050-D44C-B979-67495006A928}"/>
              </a:ext>
            </a:extLst>
          </p:cNvPr>
          <p:cNvSpPr/>
          <p:nvPr/>
        </p:nvSpPr>
        <p:spPr>
          <a:xfrm>
            <a:off x="6233641" y="4617720"/>
            <a:ext cx="4419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100" dirty="0"/>
              <a:t>Severe class imbalance in HAM10000, together with visual similarity among MEL, NV, and BKL, may contribute to the moderate overall classification accuracy of 65.85%.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A574E15E-6F51-8D2D-8E2F-F4B913A1C6F7}"/>
              </a:ext>
            </a:extLst>
          </p:cNvPr>
          <p:cNvSpPr/>
          <p:nvPr/>
        </p:nvSpPr>
        <p:spPr>
          <a:xfrm>
            <a:off x="5543694" y="5394960"/>
            <a:ext cx="579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A6777"/>
                </a:solidFill>
              </a:rPr>
              <a:t>Limitation: </a:t>
            </a:r>
            <a:r>
              <a:rPr lang="en-US" sz="1050" i="1" dirty="0"/>
              <a:t>Single-dataset evaluation, class imbalance, and no external or multi-center validation</a:t>
            </a:r>
            <a:r>
              <a:rPr lang="en-US" sz="1050" i="1" dirty="0">
                <a:solidFill>
                  <a:srgbClr val="5A6777"/>
                </a:solidFill>
              </a:rPr>
              <a:t>.</a:t>
            </a:r>
            <a:endParaRPr lang="en-US" sz="1050" i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C73A569-AD79-098A-8B46-847599123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2" y="1360967"/>
            <a:ext cx="472179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E94E9E35-DA5C-6C6C-F181-BB718600FB8D}"/>
              </a:ext>
            </a:extLst>
          </p:cNvPr>
          <p:cNvSpPr/>
          <p:nvPr/>
        </p:nvSpPr>
        <p:spPr>
          <a:xfrm>
            <a:off x="337407" y="34290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+mj-lt"/>
              </a:rPr>
              <a:t>Real-Time Performance &amp; Model Complexity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7A1E4017-6583-C4B0-3B4B-3E2240668653}"/>
              </a:ext>
            </a:extLst>
          </p:cNvPr>
          <p:cNvSpPr/>
          <p:nvPr/>
        </p:nvSpPr>
        <p:spPr>
          <a:xfrm>
            <a:off x="384048" y="8732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Proposed Swin Transformer + U-Net under the tested hardware configuration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9DE4247F-E3C5-827C-CC9C-D50EEA339ECA}"/>
              </a:ext>
            </a:extLst>
          </p:cNvPr>
          <p:cNvSpPr/>
          <p:nvPr/>
        </p:nvSpPr>
        <p:spPr>
          <a:xfrm>
            <a:off x="502920" y="132588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6ADA494F-A126-AF8D-F2EE-FCD1F6DB1C3E}"/>
              </a:ext>
            </a:extLst>
          </p:cNvPr>
          <p:cNvSpPr/>
          <p:nvPr/>
        </p:nvSpPr>
        <p:spPr>
          <a:xfrm>
            <a:off x="512064" y="1335024"/>
            <a:ext cx="54864" cy="1856232"/>
          </a:xfrm>
          <a:prstGeom prst="rect">
            <a:avLst/>
          </a:prstGeom>
          <a:solidFill>
            <a:srgbClr val="18A558"/>
          </a:solidFill>
          <a:ln w="12700">
            <a:solidFill>
              <a:srgbClr val="18A558"/>
            </a:solidFill>
            <a:prstDash val="solid"/>
          </a:ln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FC909CE-C469-25A5-E3B7-04338AC87C45}"/>
              </a:ext>
            </a:extLst>
          </p:cNvPr>
          <p:cNvSpPr/>
          <p:nvPr/>
        </p:nvSpPr>
        <p:spPr>
          <a:xfrm>
            <a:off x="612648" y="14904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8A558"/>
                </a:solidFill>
              </a:rPr>
              <a:t>72.58 FPS</a:t>
            </a:r>
            <a:endParaRPr lang="en-US" sz="23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75563213-25E9-1056-2F01-D7691B892827}"/>
              </a:ext>
            </a:extLst>
          </p:cNvPr>
          <p:cNvSpPr/>
          <p:nvPr/>
        </p:nvSpPr>
        <p:spPr>
          <a:xfrm>
            <a:off x="630936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33"/>
                </a:solidFill>
              </a:rPr>
              <a:t>Throughput</a:t>
            </a:r>
            <a:endParaRPr lang="en-US" sz="155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06455AE-CC65-9BB8-529A-DF2C535A8404}"/>
              </a:ext>
            </a:extLst>
          </p:cNvPr>
          <p:cNvSpPr/>
          <p:nvPr/>
        </p:nvSpPr>
        <p:spPr>
          <a:xfrm>
            <a:off x="649224" y="2267712"/>
            <a:ext cx="2249424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6777"/>
                </a:solidFill>
              </a:rPr>
              <a:t>Complete multi-task forward pass.</a:t>
            </a:r>
            <a:endParaRPr lang="en-US" sz="104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4066BC62-219E-B90D-55EE-CC2A52B27554}"/>
              </a:ext>
            </a:extLst>
          </p:cNvPr>
          <p:cNvSpPr/>
          <p:nvPr/>
        </p:nvSpPr>
        <p:spPr>
          <a:xfrm>
            <a:off x="3355848" y="132588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A6C574E7-3266-6288-7730-A4985C2E1204}"/>
              </a:ext>
            </a:extLst>
          </p:cNvPr>
          <p:cNvSpPr/>
          <p:nvPr/>
        </p:nvSpPr>
        <p:spPr>
          <a:xfrm>
            <a:off x="3364992" y="1335024"/>
            <a:ext cx="54864" cy="1856232"/>
          </a:xfrm>
          <a:prstGeom prst="rect">
            <a:avLst/>
          </a:prstGeom>
          <a:solidFill>
            <a:srgbClr val="2E6BE6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17795337-4599-3DF4-BEC3-4D86C5DCEF84}"/>
              </a:ext>
            </a:extLst>
          </p:cNvPr>
          <p:cNvSpPr/>
          <p:nvPr/>
        </p:nvSpPr>
        <p:spPr>
          <a:xfrm>
            <a:off x="3465576" y="14904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6BE6"/>
                </a:solidFill>
              </a:rPr>
              <a:t>13.77 ms</a:t>
            </a:r>
            <a:endParaRPr lang="en-US" sz="23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EEC915F9-0663-BA57-1B46-5C699174157E}"/>
              </a:ext>
            </a:extLst>
          </p:cNvPr>
          <p:cNvSpPr/>
          <p:nvPr/>
        </p:nvSpPr>
        <p:spPr>
          <a:xfrm>
            <a:off x="3483864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33"/>
                </a:solidFill>
              </a:rPr>
              <a:t>Average latency</a:t>
            </a:r>
            <a:endParaRPr lang="en-US" sz="15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8CCF3569-082F-EE1C-CCB4-1E7F6BBCA584}"/>
              </a:ext>
            </a:extLst>
          </p:cNvPr>
          <p:cNvSpPr/>
          <p:nvPr/>
        </p:nvSpPr>
        <p:spPr>
          <a:xfrm>
            <a:off x="3502152" y="2267712"/>
            <a:ext cx="2249424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6777"/>
                </a:solidFill>
              </a:rPr>
              <a:t>Average inference time per image.</a:t>
            </a:r>
            <a:endParaRPr lang="en-US" sz="104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097FCBD6-CF5B-AB56-CC92-87D7874186AC}"/>
              </a:ext>
            </a:extLst>
          </p:cNvPr>
          <p:cNvSpPr/>
          <p:nvPr/>
        </p:nvSpPr>
        <p:spPr>
          <a:xfrm>
            <a:off x="6208776" y="132588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B7B06D1A-E95F-EAFF-A349-53FCFD37E437}"/>
              </a:ext>
            </a:extLst>
          </p:cNvPr>
          <p:cNvSpPr/>
          <p:nvPr/>
        </p:nvSpPr>
        <p:spPr>
          <a:xfrm>
            <a:off x="6217920" y="1335024"/>
            <a:ext cx="54864" cy="1856232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0BE642E4-F244-90BB-69C0-248A2CEA925B}"/>
              </a:ext>
            </a:extLst>
          </p:cNvPr>
          <p:cNvSpPr/>
          <p:nvPr/>
        </p:nvSpPr>
        <p:spPr>
          <a:xfrm>
            <a:off x="6318504" y="14904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B3FE4"/>
                </a:solidFill>
              </a:rPr>
              <a:t>37.06 M</a:t>
            </a:r>
            <a:endParaRPr lang="en-US" sz="23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F293B313-53E7-FCD9-CB2B-472FBC03E482}"/>
              </a:ext>
            </a:extLst>
          </p:cNvPr>
          <p:cNvSpPr/>
          <p:nvPr/>
        </p:nvSpPr>
        <p:spPr>
          <a:xfrm>
            <a:off x="6336792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33"/>
                </a:solidFill>
              </a:rPr>
              <a:t>Parameters</a:t>
            </a:r>
            <a:endParaRPr lang="en-US" sz="155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C478DE7-4A16-F7E2-2A84-9F2A32C953AF}"/>
              </a:ext>
            </a:extLst>
          </p:cNvPr>
          <p:cNvSpPr/>
          <p:nvPr/>
        </p:nvSpPr>
        <p:spPr>
          <a:xfrm>
            <a:off x="6355080" y="2267712"/>
            <a:ext cx="2249424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6777"/>
                </a:solidFill>
              </a:rPr>
              <a:t>Trainable parameters in the proposed model.</a:t>
            </a:r>
            <a:endParaRPr lang="en-US" sz="104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4645B68B-7172-E59E-D661-C91F1F6DE5FF}"/>
              </a:ext>
            </a:extLst>
          </p:cNvPr>
          <p:cNvSpPr/>
          <p:nvPr/>
        </p:nvSpPr>
        <p:spPr>
          <a:xfrm>
            <a:off x="9061704" y="132588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C8F1AB70-01B5-8143-12D9-34EA21D6615C}"/>
              </a:ext>
            </a:extLst>
          </p:cNvPr>
          <p:cNvSpPr/>
          <p:nvPr/>
        </p:nvSpPr>
        <p:spPr>
          <a:xfrm>
            <a:off x="9070848" y="1335024"/>
            <a:ext cx="54864" cy="1856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B018C222-E51A-C70C-84AD-53C48F38C792}"/>
              </a:ext>
            </a:extLst>
          </p:cNvPr>
          <p:cNvSpPr/>
          <p:nvPr/>
        </p:nvSpPr>
        <p:spPr>
          <a:xfrm>
            <a:off x="9171432" y="14904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06"/>
                </a:solidFill>
              </a:rPr>
              <a:t>142.43 MB</a:t>
            </a:r>
            <a:endParaRPr lang="en-US" sz="2300" dirty="0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0AFB47C3-42A1-D96F-9BFD-39355C265801}"/>
              </a:ext>
            </a:extLst>
          </p:cNvPr>
          <p:cNvSpPr/>
          <p:nvPr/>
        </p:nvSpPr>
        <p:spPr>
          <a:xfrm>
            <a:off x="918972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33"/>
                </a:solidFill>
              </a:rPr>
              <a:t>Model size</a:t>
            </a:r>
            <a:endParaRPr lang="en-US" sz="1550" dirty="0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7D5E1C47-6171-C232-516E-3AD7BBD643D5}"/>
              </a:ext>
            </a:extLst>
          </p:cNvPr>
          <p:cNvSpPr/>
          <p:nvPr/>
        </p:nvSpPr>
        <p:spPr>
          <a:xfrm>
            <a:off x="9208008" y="2267712"/>
            <a:ext cx="2249424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A6777"/>
                </a:solidFill>
              </a:rPr>
              <a:t>Larger than both CNN baselines.</a:t>
            </a:r>
            <a:endParaRPr lang="en-US" sz="1040" dirty="0"/>
          </a:p>
        </p:txBody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87D5C20D-BD02-C4AF-7B2F-F5F11EC2BA8C}"/>
              </a:ext>
            </a:extLst>
          </p:cNvPr>
          <p:cNvSpPr/>
          <p:nvPr/>
        </p:nvSpPr>
        <p:spPr>
          <a:xfrm>
            <a:off x="713232" y="36118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DBFAF568-B6D3-0C24-5870-FA18A13A5887}"/>
              </a:ext>
            </a:extLst>
          </p:cNvPr>
          <p:cNvSpPr/>
          <p:nvPr/>
        </p:nvSpPr>
        <p:spPr>
          <a:xfrm>
            <a:off x="932688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F73"/>
                </a:solidFill>
              </a:rPr>
              <a:t>Benchmark setup</a:t>
            </a:r>
            <a:endParaRPr lang="en-US" sz="17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59A137AA-46CF-8BF8-A304-862E76CC13BD}"/>
              </a:ext>
            </a:extLst>
          </p:cNvPr>
          <p:cNvSpPr/>
          <p:nvPr/>
        </p:nvSpPr>
        <p:spPr>
          <a:xfrm>
            <a:off x="932688" y="4224528"/>
            <a:ext cx="457200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167640" indent="-167640">
              <a:buSzPct val="100000"/>
              <a:buChar char="•"/>
            </a:pPr>
            <a:r>
              <a:rPr lang="en-US" sz="1170" dirty="0">
                <a:solidFill>
                  <a:srgbClr val="172033"/>
                </a:solidFill>
              </a:rPr>
              <a:t>Apple M4 • 16 GB unified memory • MPS backend</a:t>
            </a:r>
            <a:endParaRPr lang="en-US" sz="1170" dirty="0"/>
          </a:p>
          <a:p>
            <a:pPr marL="167640" indent="-167640">
              <a:buSzPct val="100000"/>
              <a:buChar char="•"/>
            </a:pPr>
            <a:r>
              <a:rPr lang="en-US" sz="1170" dirty="0">
                <a:solidFill>
                  <a:srgbClr val="172033"/>
                </a:solidFill>
              </a:rPr>
              <a:t>Batch size 1 • evaluation mode • gradients disabled</a:t>
            </a:r>
            <a:endParaRPr lang="en-US" sz="1170" dirty="0"/>
          </a:p>
          <a:p>
            <a:pPr marL="167640" indent="-167640">
              <a:buSzPct val="100000"/>
              <a:buChar char="•"/>
            </a:pPr>
            <a:r>
              <a:rPr lang="en-US" sz="1170" dirty="0">
                <a:solidFill>
                  <a:srgbClr val="172033"/>
                </a:solidFill>
              </a:rPr>
              <a:t>10 warm-up passes + 50 timed iterations</a:t>
            </a:r>
            <a:endParaRPr lang="en-US" sz="1170" dirty="0"/>
          </a:p>
          <a:p>
            <a:pPr marL="167640" indent="-167640">
              <a:buSzPct val="100000"/>
              <a:buChar char="•"/>
            </a:pPr>
            <a:r>
              <a:rPr lang="en-US" sz="1170" dirty="0">
                <a:solidFill>
                  <a:srgbClr val="172033"/>
                </a:solidFill>
              </a:rPr>
              <a:t>Classification and segmentation executed together</a:t>
            </a:r>
            <a:endParaRPr lang="en-US" sz="1170" dirty="0"/>
          </a:p>
        </p:txBody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97FA9D62-DFB4-83A5-DC9B-4B9531BA708A}"/>
              </a:ext>
            </a:extLst>
          </p:cNvPr>
          <p:cNvSpPr/>
          <p:nvPr/>
        </p:nvSpPr>
        <p:spPr>
          <a:xfrm>
            <a:off x="6236208" y="361188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5E8"/>
          </a:solidFill>
          <a:ln w="12700">
            <a:solidFill>
              <a:srgbClr val="F1D2A3"/>
            </a:solidFill>
            <a:prstDash val="solid"/>
          </a:ln>
        </p:spPr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56D22B55-C1AE-B660-0AA7-9F1CF8568A8D}"/>
              </a:ext>
            </a:extLst>
          </p:cNvPr>
          <p:cNvSpPr/>
          <p:nvPr/>
        </p:nvSpPr>
        <p:spPr>
          <a:xfrm>
            <a:off x="6473952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</a:rPr>
              <a:t>Trade-off</a:t>
            </a:r>
            <a:endParaRPr lang="en-US" sz="1700" dirty="0"/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D991CBB2-D7FC-CEBB-3212-669039C320D6}"/>
              </a:ext>
            </a:extLst>
          </p:cNvPr>
          <p:cNvSpPr/>
          <p:nvPr/>
        </p:nvSpPr>
        <p:spPr>
          <a:xfrm>
            <a:off x="6473952" y="4224528"/>
            <a:ext cx="45720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</a:rPr>
              <a:t>The proposed model is slower and larger than the CNN baselines, but it still exceeds 72 FPS while performing both tasks in one forward pass.</a:t>
            </a:r>
            <a:endParaRPr lang="en-US" sz="1220" dirty="0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4F0EB699-8442-E552-E058-00ACE7784267}"/>
              </a:ext>
            </a:extLst>
          </p:cNvPr>
          <p:cNvSpPr/>
          <p:nvPr/>
        </p:nvSpPr>
        <p:spPr>
          <a:xfrm>
            <a:off x="868680" y="5440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D64045"/>
                </a:solidFill>
              </a:rPr>
              <a:t>Therefore, the claim is real-time-capable model-level inference under this tested setup — not a deployed clinical system.</a:t>
            </a:r>
            <a:endParaRPr lang="en-US" sz="11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8946E33-CC38-B629-786E-A2640794730E}"/>
              </a:ext>
            </a:extLst>
          </p:cNvPr>
          <p:cNvSpPr/>
          <p:nvPr/>
        </p:nvSpPr>
        <p:spPr>
          <a:xfrm>
            <a:off x="384048" y="3017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Work</a:t>
            </a:r>
            <a:endParaRPr lang="en-US" sz="25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9B9CCEC-6015-4C99-01EB-0313545A3386}"/>
              </a:ext>
            </a:extLst>
          </p:cNvPr>
          <p:cNvSpPr/>
          <p:nvPr/>
        </p:nvSpPr>
        <p:spPr>
          <a:xfrm>
            <a:off x="402336" y="704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7"/>
                </a:solidFill>
              </a:rPr>
              <a:t>Main takeaway, limitations, and next steps</a:t>
            </a:r>
            <a:endParaRPr lang="en-US" sz="105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6E8747D-4BEA-724D-A533-6EE16954A613}"/>
              </a:ext>
            </a:extLst>
          </p:cNvPr>
          <p:cNvSpPr/>
          <p:nvPr/>
        </p:nvSpPr>
        <p:spPr>
          <a:xfrm>
            <a:off x="548640" y="123444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ECFBF8"/>
          </a:solidFill>
          <a:ln w="12700">
            <a:solidFill>
              <a:srgbClr val="B7E9DE"/>
            </a:solidFill>
            <a:prstDash val="solid"/>
          </a:ln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BB1C732-24E4-0218-BB88-1337399DA911}"/>
              </a:ext>
            </a:extLst>
          </p:cNvPr>
          <p:cNvSpPr/>
          <p:nvPr/>
        </p:nvSpPr>
        <p:spPr>
          <a:xfrm>
            <a:off x="868680" y="1572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F73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E943686-765F-1D62-59D1-BA2C7A5E417B}"/>
              </a:ext>
            </a:extLst>
          </p:cNvPr>
          <p:cNvSpPr/>
          <p:nvPr/>
        </p:nvSpPr>
        <p:spPr>
          <a:xfrm>
            <a:off x="868680" y="2084832"/>
            <a:ext cx="45720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A unified Swin Transformer + U-Net multi-task framework was developed.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Classification and segmentation are performed together from shared features.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00" dirty="0"/>
              <a:t>The proposed model achieved the highest Accuracy, Macro-F1, ROC-AUC, Dice, and </a:t>
            </a:r>
            <a:r>
              <a:rPr lang="en-US" sz="1400" dirty="0" err="1"/>
              <a:t>IoU</a:t>
            </a:r>
            <a:r>
              <a:rPr lang="en-US" sz="1400" dirty="0"/>
              <a:t> among the evaluated models.</a:t>
            </a:r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Segmentation performance is strong, while classification accuracy remains moderate.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72.58 FPS and 13.77 ms latency demonstrate real-time-capable inference under the tested setup.</a:t>
            </a:r>
            <a:endParaRPr lang="en-US" sz="142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EC49032-FC3B-69DE-982F-BDF847847E7A}"/>
              </a:ext>
            </a:extLst>
          </p:cNvPr>
          <p:cNvSpPr/>
          <p:nvPr/>
        </p:nvSpPr>
        <p:spPr>
          <a:xfrm>
            <a:off x="868680" y="4828032"/>
            <a:ext cx="4617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D64045"/>
                </a:solidFill>
              </a:rPr>
              <a:t>Main limitations: single dataset, class imbalance, visually similar classes, and no external/multi-center validation.</a:t>
            </a:r>
            <a:endParaRPr lang="en-US" sz="108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078470F9-3F86-5152-F153-547E465A45A5}"/>
              </a:ext>
            </a:extLst>
          </p:cNvPr>
          <p:cNvSpPr/>
          <p:nvPr/>
        </p:nvSpPr>
        <p:spPr>
          <a:xfrm>
            <a:off x="6245352" y="12344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EEF5FF"/>
          </a:solidFill>
          <a:ln w="12700">
            <a:solidFill>
              <a:srgbClr val="C3D8F5"/>
            </a:solidFill>
            <a:prstDash val="solid"/>
          </a:ln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A906EEB-FDB7-0F1D-9571-748148B6E45C}"/>
              </a:ext>
            </a:extLst>
          </p:cNvPr>
          <p:cNvSpPr/>
          <p:nvPr/>
        </p:nvSpPr>
        <p:spPr>
          <a:xfrm>
            <a:off x="6537960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6BE6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F38A4F1-BBF0-CADE-55E6-BF9E78E669B7}"/>
              </a:ext>
            </a:extLst>
          </p:cNvPr>
          <p:cNvSpPr/>
          <p:nvPr/>
        </p:nvSpPr>
        <p:spPr>
          <a:xfrm>
            <a:off x="6537960" y="2084832"/>
            <a:ext cx="45262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Evaluate on larger and multi-center datasets.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Improve minority-class discrimination, especially MEL/NV/BKL.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Explore lighter Transformer architectures to reduce model size and latency.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Measure end-to-end clinical-system latency, including preprocessing and interface overhead.</a:t>
            </a:r>
            <a:endParaRPr lang="en-US" sz="1420" dirty="0"/>
          </a:p>
          <a:p>
            <a:pPr marL="181610" indent="-181610">
              <a:buSzPct val="100000"/>
              <a:buChar char="•"/>
            </a:pPr>
            <a:r>
              <a:rPr lang="en-US" sz="1420" dirty="0">
                <a:solidFill>
                  <a:srgbClr val="172033"/>
                </a:solidFill>
              </a:rPr>
              <a:t>Perform external validation to assess generalization.</a:t>
            </a:r>
            <a:endParaRPr lang="en-US" sz="142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0A35D5E-0E73-8B7D-D221-1A901EFE16A2}"/>
              </a:ext>
            </a:extLst>
          </p:cNvPr>
          <p:cNvSpPr/>
          <p:nvPr/>
        </p:nvSpPr>
        <p:spPr>
          <a:xfrm>
            <a:off x="6537960" y="4828032"/>
            <a:ext cx="45720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E6BE6"/>
                </a:solidFill>
              </a:rPr>
              <a:t>Goal: improve classification performance, generalizability, and computational efficiency without sacrificing segmentation quality.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ABAF-61CC-A9B3-5F1B-4C1FC786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211A425-58B1-6BBF-93F5-C9AB9A5ED1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0A4170-C60D-F61E-CCCF-E5291C0D9E8C}"/>
              </a:ext>
            </a:extLst>
          </p:cNvPr>
          <p:cNvSpPr txBox="1"/>
          <p:nvPr/>
        </p:nvSpPr>
        <p:spPr>
          <a:xfrm>
            <a:off x="502920" y="36576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 Display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E4C61-72A5-533D-6163-D534AD080301}"/>
              </a:ext>
            </a:extLst>
          </p:cNvPr>
          <p:cNvSpPr txBox="1"/>
          <p:nvPr/>
        </p:nvSpPr>
        <p:spPr>
          <a:xfrm>
            <a:off x="521207" y="768096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Selected studies cited in the Literature Review &amp; Research Gap slide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BCFAA1-5CF8-F6C9-6FCC-DCF5B6301931}"/>
              </a:ext>
            </a:extLst>
          </p:cNvPr>
          <p:cNvSpPr/>
          <p:nvPr/>
        </p:nvSpPr>
        <p:spPr>
          <a:xfrm>
            <a:off x="548640" y="1188720"/>
            <a:ext cx="5440680" cy="960120"/>
          </a:xfrm>
          <a:prstGeom prst="roundRect">
            <a:avLst/>
          </a:prstGeom>
          <a:solidFill>
            <a:srgbClr val="F8FBFC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3D5CD8-21FB-3E7D-33E3-4D2816DAFA44}"/>
              </a:ext>
            </a:extLst>
          </p:cNvPr>
          <p:cNvSpPr/>
          <p:nvPr/>
        </p:nvSpPr>
        <p:spPr>
          <a:xfrm>
            <a:off x="694944" y="1344168"/>
            <a:ext cx="457200" cy="347472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[1]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68984-32C1-015A-AEB2-6E7F5D9020F0}"/>
              </a:ext>
            </a:extLst>
          </p:cNvPr>
          <p:cNvSpPr txBox="1"/>
          <p:nvPr/>
        </p:nvSpPr>
        <p:spPr>
          <a:xfrm>
            <a:off x="1261872" y="1316736"/>
            <a:ext cx="456285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Y. Gulzar and S. A. Khan, “Skin lesion segmentation based on vision transformers and convolutional neural networks—A comparative study,” Appl. Sci., vol. 12, no. 12, Art. no. 5990, 2022, doi: 10.3390/app12125990.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5F09A7A-CEA8-BC9B-A784-F4A944183717}"/>
              </a:ext>
            </a:extLst>
          </p:cNvPr>
          <p:cNvSpPr/>
          <p:nvPr/>
        </p:nvSpPr>
        <p:spPr>
          <a:xfrm>
            <a:off x="548640" y="2331720"/>
            <a:ext cx="5440680" cy="960120"/>
          </a:xfrm>
          <a:prstGeom prst="roundRect">
            <a:avLst/>
          </a:prstGeom>
          <a:solidFill>
            <a:srgbClr val="F8FBFC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D6E110-60B9-8830-A524-9EE68F66FCDA}"/>
              </a:ext>
            </a:extLst>
          </p:cNvPr>
          <p:cNvSpPr/>
          <p:nvPr/>
        </p:nvSpPr>
        <p:spPr>
          <a:xfrm>
            <a:off x="694944" y="2487168"/>
            <a:ext cx="457200" cy="347472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6A43D-7569-BA0A-9F05-7B077AE38FB7}"/>
              </a:ext>
            </a:extLst>
          </p:cNvPr>
          <p:cNvSpPr txBox="1"/>
          <p:nvPr/>
        </p:nvSpPr>
        <p:spPr>
          <a:xfrm>
            <a:off x="1261872" y="2459736"/>
            <a:ext cx="456285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J. S. ThangaPurni and M. Braveen, “Unified ARP-ViT-CNN system: Hybrid deep learning approach for segmenting and classifying multiple skin cancer lesions,” Array, vol. 28, Art. no. 100515, 2025, doi: 10.1016/j.array.2025.100515.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C56B42-BC1F-90AC-2037-D391B6320852}"/>
              </a:ext>
            </a:extLst>
          </p:cNvPr>
          <p:cNvSpPr/>
          <p:nvPr/>
        </p:nvSpPr>
        <p:spPr>
          <a:xfrm>
            <a:off x="548640" y="3474720"/>
            <a:ext cx="5440680" cy="960120"/>
          </a:xfrm>
          <a:prstGeom prst="roundRect">
            <a:avLst/>
          </a:prstGeom>
          <a:solidFill>
            <a:srgbClr val="F8FBFC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ABE10EA-B208-BB85-6145-7FED6B49280E}"/>
              </a:ext>
            </a:extLst>
          </p:cNvPr>
          <p:cNvSpPr/>
          <p:nvPr/>
        </p:nvSpPr>
        <p:spPr>
          <a:xfrm>
            <a:off x="694944" y="3630168"/>
            <a:ext cx="457200" cy="347472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[5]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31E4C7-A47A-4F3E-50BA-5414A43E39CF}"/>
              </a:ext>
            </a:extLst>
          </p:cNvPr>
          <p:cNvSpPr txBox="1"/>
          <p:nvPr/>
        </p:nvSpPr>
        <p:spPr>
          <a:xfrm>
            <a:off x="1261872" y="3602736"/>
            <a:ext cx="456285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A. Ahmed et al., “Precision and efficiency in skin cancer segmentation through a dual encoder deep learning model,” Sci. Rep., vol. 15, Art. no. 4815, 2025, doi: 10.1038/s41598-025-88753-3.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49F5718-CCDB-0241-B16A-CCE8D020A0F8}"/>
              </a:ext>
            </a:extLst>
          </p:cNvPr>
          <p:cNvSpPr/>
          <p:nvPr/>
        </p:nvSpPr>
        <p:spPr>
          <a:xfrm>
            <a:off x="548640" y="4617720"/>
            <a:ext cx="5440680" cy="960120"/>
          </a:xfrm>
          <a:prstGeom prst="roundRect">
            <a:avLst/>
          </a:prstGeom>
          <a:solidFill>
            <a:srgbClr val="F8FBFC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8835FFE-2849-82E2-CF8D-6F8AC93CB71D}"/>
              </a:ext>
            </a:extLst>
          </p:cNvPr>
          <p:cNvSpPr/>
          <p:nvPr/>
        </p:nvSpPr>
        <p:spPr>
          <a:xfrm>
            <a:off x="694944" y="4773168"/>
            <a:ext cx="457200" cy="347472"/>
          </a:xfrm>
          <a:prstGeom prst="roundRect">
            <a:avLst/>
          </a:prstGeom>
          <a:solidFill>
            <a:srgbClr val="147E70"/>
          </a:solidFill>
          <a:ln>
            <a:solidFill>
              <a:srgbClr val="147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[6]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DB0D5E-043C-F785-BE83-24145F46948E}"/>
              </a:ext>
            </a:extLst>
          </p:cNvPr>
          <p:cNvSpPr txBox="1"/>
          <p:nvPr/>
        </p:nvSpPr>
        <p:spPr>
          <a:xfrm>
            <a:off x="1261872" y="4745736"/>
            <a:ext cx="456285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I. Paçal et al., “A novel CNN-ViT-based deep learning model for early skin cancer diagnosis,” Biomed. Signal Process. Control, vol. 104, Art. no. 107627, 2025, doi: 10.1016/j.bspc.2025.107627.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F7650B2-2679-827B-8305-08A2D3015FFF}"/>
              </a:ext>
            </a:extLst>
          </p:cNvPr>
          <p:cNvSpPr/>
          <p:nvPr/>
        </p:nvSpPr>
        <p:spPr>
          <a:xfrm>
            <a:off x="6199632" y="1188720"/>
            <a:ext cx="5440680" cy="1234440"/>
          </a:xfrm>
          <a:prstGeom prst="roundRect">
            <a:avLst/>
          </a:prstGeom>
          <a:solidFill>
            <a:srgbClr val="F9FBFF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1FEF7FC-1982-2386-FFCF-6CAF47BCB5DE}"/>
              </a:ext>
            </a:extLst>
          </p:cNvPr>
          <p:cNvSpPr/>
          <p:nvPr/>
        </p:nvSpPr>
        <p:spPr>
          <a:xfrm>
            <a:off x="6345936" y="1344168"/>
            <a:ext cx="457200" cy="347472"/>
          </a:xfrm>
          <a:prstGeom prst="roundRect">
            <a:avLst/>
          </a:prstGeom>
          <a:solidFill>
            <a:srgbClr val="386FD7"/>
          </a:solidFill>
          <a:ln>
            <a:solidFill>
              <a:srgbClr val="38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[8]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1E1508-CC98-6FB8-9222-A87CF2805A31}"/>
              </a:ext>
            </a:extLst>
          </p:cNvPr>
          <p:cNvSpPr txBox="1"/>
          <p:nvPr/>
        </p:nvSpPr>
        <p:spPr>
          <a:xfrm>
            <a:off x="6912864" y="1316736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T. M. Alam et al., “An efficient deep learning-based skin cancer classifier for an imbalanced dataset,” Diagnostics, vol. 12, no. 9, Art. no. 2115, 2022, doi: 10.3390/diagnostics12092115.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906A24F-7728-1309-C95E-A7EE05FBDFBB}"/>
              </a:ext>
            </a:extLst>
          </p:cNvPr>
          <p:cNvSpPr/>
          <p:nvPr/>
        </p:nvSpPr>
        <p:spPr>
          <a:xfrm>
            <a:off x="6199632" y="2651760"/>
            <a:ext cx="5440680" cy="1234440"/>
          </a:xfrm>
          <a:prstGeom prst="roundRect">
            <a:avLst/>
          </a:prstGeom>
          <a:solidFill>
            <a:srgbClr val="F9FBFF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B95B000-F344-FB86-4E33-71D7B54A5DD3}"/>
              </a:ext>
            </a:extLst>
          </p:cNvPr>
          <p:cNvSpPr/>
          <p:nvPr/>
        </p:nvSpPr>
        <p:spPr>
          <a:xfrm>
            <a:off x="6345936" y="2807208"/>
            <a:ext cx="457200" cy="347472"/>
          </a:xfrm>
          <a:prstGeom prst="roundRect">
            <a:avLst/>
          </a:prstGeom>
          <a:solidFill>
            <a:srgbClr val="386FD7"/>
          </a:solidFill>
          <a:ln>
            <a:solidFill>
              <a:srgbClr val="38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[13]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601A1E-E7C3-198D-D4AF-8AE304BFCEEA}"/>
              </a:ext>
            </a:extLst>
          </p:cNvPr>
          <p:cNvSpPr txBox="1"/>
          <p:nvPr/>
        </p:nvSpPr>
        <p:spPr>
          <a:xfrm>
            <a:off x="6912864" y="2779776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C. Xin et al., “An improved transformer network for skin cancer classification,” Comput. Biol. Med., vol. 149, Art. no. 105939, 2022, doi: 10.1016/j.compbiomed.2022.105939.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0F7C43D-153E-2476-F50B-E489B0B6D54A}"/>
              </a:ext>
            </a:extLst>
          </p:cNvPr>
          <p:cNvSpPr/>
          <p:nvPr/>
        </p:nvSpPr>
        <p:spPr>
          <a:xfrm>
            <a:off x="6199632" y="4114800"/>
            <a:ext cx="5440680" cy="1234440"/>
          </a:xfrm>
          <a:prstGeom prst="roundRect">
            <a:avLst/>
          </a:prstGeom>
          <a:solidFill>
            <a:srgbClr val="F9FBFF"/>
          </a:solidFill>
          <a:ln w="10160"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C63437F-A037-9547-CAD9-44074C0CB3E9}"/>
              </a:ext>
            </a:extLst>
          </p:cNvPr>
          <p:cNvSpPr/>
          <p:nvPr/>
        </p:nvSpPr>
        <p:spPr>
          <a:xfrm>
            <a:off x="6345936" y="4270248"/>
            <a:ext cx="457200" cy="347472"/>
          </a:xfrm>
          <a:prstGeom prst="roundRect">
            <a:avLst/>
          </a:prstGeom>
          <a:solidFill>
            <a:srgbClr val="386FD7"/>
          </a:solidFill>
          <a:ln>
            <a:solidFill>
              <a:srgbClr val="386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[14]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115453-393F-A2A4-F097-EC9F6E77332D}"/>
              </a:ext>
            </a:extLst>
          </p:cNvPr>
          <p:cNvSpPr txBox="1"/>
          <p:nvPr/>
        </p:nvSpPr>
        <p:spPr>
          <a:xfrm>
            <a:off x="6912864" y="4242816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2D3748"/>
                </a:solidFill>
                <a:latin typeface="Aptos"/>
              </a:rPr>
              <a:t>R. P. Desale and P. S. Patil, “An efficient multi-class classification of skin cancer using optimized vision transformer,” Med. Biol. Eng. Comput., vol. 62, no. 3, pp. 773–789, 2024, doi: 10.1007/s11517-023-02969-x.</a:t>
            </a:r>
          </a:p>
        </p:txBody>
      </p:sp>
    </p:spTree>
    <p:extLst>
      <p:ext uri="{BB962C8B-B14F-4D97-AF65-F5344CB8AC3E}">
        <p14:creationId xmlns:p14="http://schemas.microsoft.com/office/powerpoint/2010/main" val="1057972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88920" y="3063240"/>
            <a:ext cx="658368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336499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Real-Time Multi-Task Skin Lesion Classification and Segmentation Using Swin Transformer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493776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Afnan Bin Islam Nahin  •  Aman Ullah  •  Shakila Rahman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5321808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American International University–Bangladesh (AIUB)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1811</Words>
  <Application>Microsoft Macintosh PowerPoint</Application>
  <PresentationFormat>Widescreen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American International University-Bangladesh (AIUB)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Multi-Task Skin Lesion Classification and Segmentation Using Swin Transformer</dc:title>
  <dc:subject>BECITHCON 2026 Conference Presentation</dc:subject>
  <dc:creator>Afnan Bin Islam Nahin, Aman Ullah, Shakila Rahman</dc:creator>
  <cp:lastModifiedBy>Afnan Nahin</cp:lastModifiedBy>
  <cp:revision>3</cp:revision>
  <dcterms:created xsi:type="dcterms:W3CDTF">2026-09-01T08:02:41Z</dcterms:created>
  <dcterms:modified xsi:type="dcterms:W3CDTF">2026-09-03T19:47:15Z</dcterms:modified>
</cp:coreProperties>
</file>